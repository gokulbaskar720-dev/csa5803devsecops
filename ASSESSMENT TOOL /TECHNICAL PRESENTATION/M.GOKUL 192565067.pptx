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kul gokul" userId="33296328daf52cab" providerId="LiveId" clId="{0BBFDBB3-1964-4715-9AF5-C9EB4B5ABE6E}"/>
    <pc:docChg chg="modSld">
      <pc:chgData name="gokul gokul" userId="33296328daf52cab" providerId="LiveId" clId="{0BBFDBB3-1964-4715-9AF5-C9EB4B5ABE6E}" dt="2026-08-22T04:54:21.255" v="7" actId="14100"/>
      <pc:docMkLst>
        <pc:docMk/>
      </pc:docMkLst>
      <pc:sldChg chg="modSp mod">
        <pc:chgData name="gokul gokul" userId="33296328daf52cab" providerId="LiveId" clId="{0BBFDBB3-1964-4715-9AF5-C9EB4B5ABE6E}" dt="2026-08-22T04:54:21.255" v="7" actId="14100"/>
        <pc:sldMkLst>
          <pc:docMk/>
          <pc:sldMk cId="0" sldId="256"/>
        </pc:sldMkLst>
        <pc:spChg chg="mod">
          <ac:chgData name="gokul gokul" userId="33296328daf52cab" providerId="LiveId" clId="{0BBFDBB3-1964-4715-9AF5-C9EB4B5ABE6E}" dt="2026-08-22T04:54:21.255" v="7" actId="14100"/>
          <ac:spMkLst>
            <pc:docMk/>
            <pc:sldMk cId="0" sldId="256"/>
            <ac:spMk id="5" creationId="{00000000-0000-0000-0000-000000000000}"/>
          </ac:spMkLst>
        </pc:spChg>
        <pc:spChg chg="mod">
          <ac:chgData name="gokul gokul" userId="33296328daf52cab" providerId="LiveId" clId="{0BBFDBB3-1964-4715-9AF5-C9EB4B5ABE6E}" dt="2026-08-22T04:53:52.859" v="1" actId="1076"/>
          <ac:spMkLst>
            <pc:docMk/>
            <pc:sldMk cId="0" sldId="256"/>
            <ac:spMk id="6" creationId="{00000000-0000-0000-0000-000000000000}"/>
          </ac:spMkLst>
        </pc:spChg>
        <pc:spChg chg="mod">
          <ac:chgData name="gokul gokul" userId="33296328daf52cab" providerId="LiveId" clId="{0BBFDBB3-1964-4715-9AF5-C9EB4B5ABE6E}" dt="2026-08-22T04:53:50.475" v="0" actId="1076"/>
          <ac:spMkLst>
            <pc:docMk/>
            <pc:sldMk cId="0" sldId="256"/>
            <ac:spMk id="7" creationId="{E5F1BFA3-E85C-528D-FBA0-44CBCC56E4C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9592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Introduce the topic: this presentation is about DevSecOps, a modern approach to software development where security is not an afterthought but a built-in part of the process from day one. Explain that 'Secure by Default' is the guiding philosophy: instead of bolting security on at the end, systems are designed so that the safest option is automatically the one that happens. Mention that this matters because cyberattacks are increasing, and traditional development approaches that treat security as a final checklist item are too slow and too risky for modern software delivery.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DevSecOps is short for Development, Security, and Operations. Traditionally these were three separate teams working in silos: developers wrote code, security teams reviewed it later, and operations deployed it. This caused delays, miscommunication, and security issues found too late. DevSecOps merges these three functions into one continuous workflow. Security is no longer a 'gate' at the end of the pipeline — it is a shared responsibility woven into every step, from writing the first line of code to monitoring the live application. The goal is to make secure software the natural outcome of the development process, not an extra task bolted on afterward. Emphasize the quote on this slide: speed and security are not opposites in DevSecOps — the model is designed so teams can move fast without leaving security behind.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‘Secure by Default’ means the system's starting configuration is already the safest one, so nobody has to remember to turn security on. Explain the contrast: in older approaches, a new server, application, or account often started in an open, permissive state, and someone had to manually lock it down later — and often forgot. With Secure by Default, the default state itself is locked down: strong password policies, least-privilege access control, encrypted connections, and safe settings are pre-configured before a developer even touches the system. This shifts the burden from 'remembering to add security' to 'deliberately choosing to relax it' — which is a much safer default behavior for any organization. Use the example on this slide: when a new application is created, it should not need a separate 'security setup' step — strong passwords, access control, and secure settings are already active from the moment it exists.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classic DevOps lifecycle — Plan, Code, Build, Test, Release, Deploy, Monitor — but in DevSecOps, security is layered onto every single stage instead of appearing only once at the end. Walk through it briefly: in Plan, teams identify security requirements and threats early (threat modeling). In Code, developers follow secure coding guidelines and use linters. In Build, automated security scans run on the code. In Test, the application is actively tested for vulnerabilities. In Release and Deploy, checks confirm the software meets security standards before going live. In Monitor, the running application is continuously watched for new threats. The key message: security is not a single stage in this cycle, it's a thread running through all of them. This is why DevSecOps is often described as a continuous loop rather than a straight line — monitoring feeds back into planning for the next cycle.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Shift-Left is one of the most important ideas in DevSecOps. Picture the development timeline drawn as a line from left (planning/coding) to right (deployment/production). Traditionally, security testing happened on the far right — just before or even after release. 'Shifting left' means moving that testing earlier, closer to when the code is actually written. Explain why this matters with a simple cost comparison: a vulnerability caught while a developer is writing code might take minutes to fix. The same vulnerability found after deployment could require emergency patches, incident response, customer notifications, and reputational damage. Industry research consistently shows that the cost of fixing a bug grows the later it's found in the lifecycle — so shifting left isn't just safer, it's also cheaper and faster. Tie it to the flow diagram on this slide: find problems early, fix them early, and the natural result is a secure release — no last-minute scrambling.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tool categories are the backbone of practical DevSecOps. Explain each in a bit more depth:
SAST (Static Application Security Testing): analyzes source code without running it, looking for insecure patterns like hardcoded passwords or SQL injection risks — used during coding.
DAST (Dynamic Application Security Testing): tests the application while it's actually running, simulating attacks from the outside, similar to how a real hacker would probe a live system.
SCA (Software Composition Analysis): most modern applications use dozens or hundreds of third-party open-source libraries; SCA checks these dependencies for known vulnerabilities, since a single outdated library can expose the whole application.
Container Security: scans container images (like Docker images) for vulnerabilities before and after they're deployed, since containers package an entire runtime environment that must also be secure.
Continuous Monitoring: once the application is live, monitoring tools watch for unusual behavior, intrusion attempts, or new vulnerabilities discovered after release — security doesn't stop at deployment.
Together these tools cover the full lifecycle: before code runs, while it runs, what it depends on, how it's packaged, and how it behaves in production.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Automation is what makes DevSecOps actually practical at scale — without it, security would be too slow to keep up with modern software release cycles that can ship code multiple times a day. Explain the CI/CD pipeline shown on this slide: CI stands for Continuous Integration (developers frequently merge code, which is automatically built and tested), and CD stands for Continuous Delivery/Deployment (that tested code is automatically pushed toward production). In a DevSecOps pipeline, a 'Scan' step is inserted directly into this automated flow — every time code is committed, it is automatically built, scanned for vulnerabilities, tested, and only then deployed. If a security scan fails, the pipeline can automatically stop the release, preventing vulnerable code from reaching users — this is sometimes called a 'security gate.' The benefit: manual security review that once took days can now happen in minutes, consistently, on every single change, without relying on a person remembering to run a check.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why each benefit matters in practice, not just in theory:
Improved application security and early vulnerability detection go hand in hand — catching issues sooner means fewer of them make it into production.
Reduced risk and lower cost follow directly from Shift-Left: fixing problems early is cheaper than emergency patching after a breach.
Faster software delivery may sound counterintuitive for a security-focused process, but because checks are automated and continuous, teams don't need to pause for lengthy manual security reviews before release.
Customer trust is a business outcome: users and clients are more likely to trust and stay with a product that has a strong security track record, especially in industries handling sensitive data.
Continuous security monitoring means the organization isn't just secure at launch — it stays secure as new threats emerge after deployment. Together, these benefits show that security and speed reinforce each other in DevSecOps rather than trading off against each other.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important to present DevSecOps honestly — it isn't a silver bullet, and adopting it comes with real challenges:
Developers needing security knowledge means teams must invest in training; not every developer starts out knowing how to write secure code or interpret a vulnerability scan result.
Tool integration difficulty is common because organizations often have existing pipelines, and adding new security tools into that pipeline without breaking it takes real engineering effort.
False alerts (false positives) are a well-known pain point — automated scanners can flag issues that aren't actually exploitable, and too many false alarms can cause teams to start ignoring warnings altogether ('alert fatigue').
Communication between security and development teams is essential because these teams historically had different priorities — developers focused on speed and features, security teams focused on risk — and DevSecOps requires both to collaborate closely.
Resistance to new processes is a change-management challenge: shifting an organization's culture and workflow takes time, leadership support, and often a gradual rollout rather than an overnight switch.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reinforcing the core message: DevSecOps is fundamentally a cultural shift as much as a technical one. It changes security from being 'someone else's job at the end' into a shared responsibility that everyone — developers, security engineers, and operations staff — owns together. Secure by Default means the safest configuration is the automatic starting point, not something bolted on later. Automation and continuous monitoring mean that security keeps working even after the team moves on to the next feature. End with the practical takeaway for the audience: organizations that adopt DevSecOps don't have to choose between moving fast and staying secure — done well, the approach lets them do both at the same time. Thank the audience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027"/>
        </a:solidFill>
        <a:effectLst/>
      </p:bgPr>
    </p:bg>
    <p:spTree>
      <p:nvGrpSpPr>
        <p:cNvPr id="1" name=""/>
        <p:cNvGrpSpPr/>
        <p:nvPr/>
      </p:nvGrpSpPr>
      <p:grpSpPr>
        <a:xfrm>
          <a:off x="0" y="0"/>
          <a:ext cx="0" cy="0"/>
          <a:chOff x="0" y="0"/>
          <a:chExt cx="0" cy="0"/>
        </a:xfrm>
      </p:grpSpPr>
      <p:sp>
        <p:nvSpPr>
          <p:cNvPr id="2" name="Shape 0"/>
          <p:cNvSpPr/>
          <p:nvPr/>
        </p:nvSpPr>
        <p:spPr>
          <a:xfrm>
            <a:off x="8869680" y="-1371600"/>
            <a:ext cx="5029200" cy="5029200"/>
          </a:xfrm>
          <a:prstGeom prst="ellipse">
            <a:avLst/>
          </a:prstGeom>
          <a:solidFill>
            <a:srgbClr val="028090">
              <a:alpha val="30000"/>
            </a:srgbClr>
          </a:solidFill>
          <a:ln/>
        </p:spPr>
      </p:sp>
      <p:sp>
        <p:nvSpPr>
          <p:cNvPr id="3" name="Shape 1"/>
          <p:cNvSpPr/>
          <p:nvPr/>
        </p:nvSpPr>
        <p:spPr>
          <a:xfrm>
            <a:off x="9692640" y="-548640"/>
            <a:ext cx="3383280" cy="3383280"/>
          </a:xfrm>
          <a:prstGeom prst="ellipse">
            <a:avLst/>
          </a:prstGeom>
          <a:solidFill>
            <a:srgbClr val="00A896">
              <a:alpha val="40000"/>
            </a:srgbClr>
          </a:solidFill>
          <a:ln/>
        </p:spPr>
      </p:sp>
      <p:sp>
        <p:nvSpPr>
          <p:cNvPr id="4" name="Shape 2"/>
          <p:cNvSpPr/>
          <p:nvPr/>
        </p:nvSpPr>
        <p:spPr>
          <a:xfrm>
            <a:off x="-1188720" y="4846320"/>
            <a:ext cx="3657600" cy="3657600"/>
          </a:xfrm>
          <a:prstGeom prst="ellipse">
            <a:avLst/>
          </a:prstGeom>
          <a:solidFill>
            <a:srgbClr val="028090">
              <a:alpha val="25000"/>
            </a:srgbClr>
          </a:solidFill>
          <a:ln/>
        </p:spPr>
      </p:sp>
      <p:sp>
        <p:nvSpPr>
          <p:cNvPr id="5" name="Text 3"/>
          <p:cNvSpPr/>
          <p:nvPr/>
        </p:nvSpPr>
        <p:spPr>
          <a:xfrm>
            <a:off x="167640" y="2125980"/>
            <a:ext cx="12131040" cy="990600"/>
          </a:xfrm>
          <a:prstGeom prst="rect">
            <a:avLst/>
          </a:prstGeom>
          <a:noFill/>
          <a:ln/>
        </p:spPr>
        <p:txBody>
          <a:bodyPr wrap="square" rtlCol="0" anchor="ctr"/>
          <a:lstStyle/>
          <a:p>
            <a:pPr marL="0" indent="0">
              <a:buNone/>
            </a:pPr>
            <a:r>
              <a:rPr lang="en-US" sz="1600" b="1" kern="0" spc="300" dirty="0">
                <a:solidFill>
                  <a:srgbClr val="02C39A"/>
                </a:solidFill>
                <a:latin typeface="Calibri" pitchFamily="34" charset="0"/>
                <a:ea typeface="Calibri" pitchFamily="34" charset="-122"/>
                <a:cs typeface="Calibri" pitchFamily="34" charset="-120"/>
              </a:rPr>
              <a:t>SECURE BY DEFAULT</a:t>
            </a:r>
            <a:endParaRPr lang="en-US" sz="1600" dirty="0"/>
          </a:p>
        </p:txBody>
      </p:sp>
      <p:sp>
        <p:nvSpPr>
          <p:cNvPr id="6" name="Text 4"/>
          <p:cNvSpPr/>
          <p:nvPr/>
        </p:nvSpPr>
        <p:spPr>
          <a:xfrm>
            <a:off x="777240" y="2491740"/>
            <a:ext cx="10515600" cy="137160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A DevSecOps Journey</a:t>
            </a:r>
            <a:endParaRPr lang="en-US" sz="4400" dirty="0"/>
          </a:p>
        </p:txBody>
      </p:sp>
      <p:sp>
        <p:nvSpPr>
          <p:cNvPr id="8" name="Text 5"/>
          <p:cNvSpPr/>
          <p:nvPr/>
        </p:nvSpPr>
        <p:spPr>
          <a:xfrm>
            <a:off x="822960" y="4251960"/>
            <a:ext cx="7315200" cy="365760"/>
          </a:xfrm>
          <a:prstGeom prst="rect">
            <a:avLst/>
          </a:prstGeom>
          <a:noFill/>
          <a:ln/>
        </p:spPr>
        <p:txBody>
          <a:bodyPr wrap="square" rtlCol="0" anchor="ctr"/>
          <a:lstStyle/>
          <a:p>
            <a:pPr marL="0" indent="0">
              <a:buNone/>
            </a:pPr>
            <a:r>
              <a:rPr lang="en-US" sz="1500" b="1" dirty="0">
                <a:solidFill>
                  <a:srgbClr val="C7DAD9"/>
                </a:solidFill>
                <a:latin typeface="Calibri" pitchFamily="34" charset="0"/>
                <a:ea typeface="Calibri" pitchFamily="34" charset="-122"/>
                <a:cs typeface="Calibri" pitchFamily="34" charset="-120"/>
              </a:rPr>
              <a:t>Presented by: </a:t>
            </a:r>
            <a:r>
              <a:rPr lang="en-US" sz="1500" b="1" dirty="0">
                <a:solidFill>
                  <a:srgbClr val="FFFFFF"/>
                </a:solidFill>
                <a:latin typeface="Calibri" pitchFamily="34" charset="0"/>
                <a:ea typeface="Calibri" pitchFamily="34" charset="-122"/>
                <a:cs typeface="Calibri" pitchFamily="34" charset="-120"/>
              </a:rPr>
              <a:t> </a:t>
            </a: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M.GOKUL (192565067)</a:t>
            </a:r>
            <a:endParaRPr lang="en-US" sz="1500" dirty="0">
              <a:latin typeface="Times New Roman" panose="02020603050405020304" pitchFamily="18" charset="0"/>
              <a:cs typeface="Times New Roman" panose="02020603050405020304" pitchFamily="18" charset="0"/>
            </a:endParaRPr>
          </a:p>
        </p:txBody>
      </p:sp>
      <p:sp>
        <p:nvSpPr>
          <p:cNvPr id="9" name="Text 6"/>
          <p:cNvSpPr/>
          <p:nvPr/>
        </p:nvSpPr>
        <p:spPr>
          <a:xfrm>
            <a:off x="822960" y="4617720"/>
            <a:ext cx="7315200" cy="365760"/>
          </a:xfrm>
          <a:prstGeom prst="rect">
            <a:avLst/>
          </a:prstGeom>
          <a:noFill/>
          <a:ln/>
        </p:spPr>
        <p:txBody>
          <a:bodyPr wrap="square" rtlCol="0" anchor="ctr"/>
          <a:lstStyle/>
          <a:p>
            <a:pPr marL="0" indent="0">
              <a:buNone/>
            </a:pPr>
            <a:r>
              <a:rPr lang="en-US" sz="1500" b="1" dirty="0">
                <a:solidFill>
                  <a:srgbClr val="C7DAD9"/>
                </a:solidFill>
                <a:latin typeface="Calibri" pitchFamily="34" charset="0"/>
                <a:ea typeface="Calibri" pitchFamily="34" charset="-122"/>
                <a:cs typeface="Calibri" pitchFamily="34" charset="-120"/>
              </a:rPr>
              <a:t>Department: </a:t>
            </a:r>
            <a:r>
              <a:rPr lang="en-US" sz="1500" dirty="0">
                <a:solidFill>
                  <a:srgbClr val="FFFFFF"/>
                </a:solidFill>
                <a:latin typeface="Times New Roman" panose="02020603050405020304" pitchFamily="18" charset="0"/>
                <a:ea typeface="Calibri" pitchFamily="34" charset="-122"/>
                <a:cs typeface="Times New Roman" panose="02020603050405020304" pitchFamily="18" charset="0"/>
              </a:rPr>
              <a:t>Cyber Security</a:t>
            </a:r>
            <a:endParaRPr lang="en-US" sz="1500" dirty="0">
              <a:latin typeface="Times New Roman" panose="02020603050405020304" pitchFamily="18" charset="0"/>
              <a:cs typeface="Times New Roman" panose="02020603050405020304" pitchFamily="18" charset="0"/>
            </a:endParaRPr>
          </a:p>
        </p:txBody>
      </p:sp>
      <p:sp>
        <p:nvSpPr>
          <p:cNvPr id="10" name="Text 7"/>
          <p:cNvSpPr/>
          <p:nvPr/>
        </p:nvSpPr>
        <p:spPr>
          <a:xfrm>
            <a:off x="822960" y="4983480"/>
            <a:ext cx="7315200" cy="365760"/>
          </a:xfrm>
          <a:prstGeom prst="rect">
            <a:avLst/>
          </a:prstGeom>
          <a:noFill/>
          <a:ln/>
        </p:spPr>
        <p:txBody>
          <a:bodyPr wrap="square" rtlCol="0" anchor="ctr"/>
          <a:lstStyle/>
          <a:p>
            <a:pPr marL="0" indent="0">
              <a:buNone/>
            </a:pPr>
            <a:r>
              <a:rPr lang="en-US" sz="1500" b="1" dirty="0">
                <a:solidFill>
                  <a:srgbClr val="C7DAD9"/>
                </a:solidFill>
                <a:latin typeface="Calibri" pitchFamily="34" charset="0"/>
                <a:ea typeface="Calibri" pitchFamily="34" charset="-122"/>
                <a:cs typeface="Calibri" pitchFamily="34" charset="-120"/>
              </a:rPr>
              <a:t>College: </a:t>
            </a:r>
            <a:r>
              <a:rPr lang="en-US" sz="1500" dirty="0">
                <a:solidFill>
                  <a:srgbClr val="FFFFFF"/>
                </a:solidFill>
                <a:latin typeface="Times New Roman" panose="02020603050405020304" pitchFamily="18" charset="0"/>
                <a:ea typeface="Calibri" pitchFamily="34" charset="-122"/>
                <a:cs typeface="Times New Roman" panose="02020603050405020304" pitchFamily="18" charset="0"/>
              </a:rPr>
              <a:t>College Name</a:t>
            </a:r>
            <a:endParaRPr lang="en-US" sz="15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5F1BFA3-E85C-528D-FBA0-44CBCC56E4C6}"/>
              </a:ext>
            </a:extLst>
          </p:cNvPr>
          <p:cNvSpPr txBox="1"/>
          <p:nvPr/>
        </p:nvSpPr>
        <p:spPr>
          <a:xfrm>
            <a:off x="3729990" y="1508760"/>
            <a:ext cx="3543300"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TECHNICAL PRESENTATION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rtlCol="0" anchor="ctr"/>
          <a:lstStyle/>
          <a:p>
            <a:pPr marL="0" indent="0">
              <a:buNone/>
            </a:pPr>
            <a:r>
              <a:rPr lang="en-US" sz="3200" b="1" dirty="0">
                <a:solidFill>
                  <a:srgbClr val="1B2B2E"/>
                </a:solidFill>
                <a:latin typeface="Cambria" pitchFamily="34" charset="0"/>
                <a:ea typeface="Cambria" pitchFamily="34" charset="-122"/>
                <a:cs typeface="Cambria" pitchFamily="34" charset="-120"/>
              </a:rPr>
              <a:t>Introduction</a:t>
            </a:r>
            <a:endParaRPr lang="en-US" sz="3200" dirty="0"/>
          </a:p>
        </p:txBody>
      </p:sp>
      <p:sp>
        <p:nvSpPr>
          <p:cNvPr id="3" name="Text 1"/>
          <p:cNvSpPr/>
          <p:nvPr/>
        </p:nvSpPr>
        <p:spPr>
          <a:xfrm>
            <a:off x="640080" y="1051560"/>
            <a:ext cx="7315200" cy="365760"/>
          </a:xfrm>
          <a:prstGeom prst="rect">
            <a:avLst/>
          </a:prstGeom>
          <a:noFill/>
          <a:ln/>
        </p:spPr>
        <p:txBody>
          <a:bodyPr wrap="square" rtlCol="0" anchor="ctr"/>
          <a:lstStyle/>
          <a:p>
            <a:pPr marL="0" indent="0">
              <a:buNone/>
            </a:pPr>
            <a:r>
              <a:rPr lang="en-US" sz="1400" i="1" dirty="0">
                <a:solidFill>
                  <a:srgbClr val="5B6E70"/>
                </a:solidFill>
                <a:latin typeface="Calibri" pitchFamily="34" charset="0"/>
                <a:ea typeface="Calibri" pitchFamily="34" charset="-122"/>
                <a:cs typeface="Calibri" pitchFamily="34" charset="-120"/>
              </a:rPr>
              <a:t>What DevSecOps means</a:t>
            </a:r>
            <a:endParaRPr lang="en-US" sz="1400" dirty="0"/>
          </a:p>
        </p:txBody>
      </p:sp>
      <p:sp>
        <p:nvSpPr>
          <p:cNvPr id="4" name="Shape 2"/>
          <p:cNvSpPr/>
          <p:nvPr/>
        </p:nvSpPr>
        <p:spPr>
          <a:xfrm>
            <a:off x="640080" y="1764792"/>
            <a:ext cx="128016" cy="128016"/>
          </a:xfrm>
          <a:prstGeom prst="ellipse">
            <a:avLst/>
          </a:prstGeom>
          <a:solidFill>
            <a:srgbClr val="02C39A"/>
          </a:solidFill>
          <a:ln/>
        </p:spPr>
      </p:sp>
      <p:sp>
        <p:nvSpPr>
          <p:cNvPr id="5" name="Text 3"/>
          <p:cNvSpPr/>
          <p:nvPr/>
        </p:nvSpPr>
        <p:spPr>
          <a:xfrm>
            <a:off x="960120" y="1691640"/>
            <a:ext cx="6309360" cy="502920"/>
          </a:xfrm>
          <a:prstGeom prst="rect">
            <a:avLst/>
          </a:prstGeom>
          <a:noFill/>
          <a:ln/>
        </p:spPr>
        <p:txBody>
          <a:bodyPr wrap="square" rtlCol="0" anchor="t"/>
          <a:lstStyle/>
          <a:p>
            <a:pPr marL="0" indent="0">
              <a:lnSpc>
                <a:spcPct val="110000"/>
              </a:lnSpc>
              <a:buNone/>
            </a:pP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DevSecOps means </a:t>
            </a:r>
            <a:r>
              <a:rPr lang="en-US" sz="2000" b="1" dirty="0">
                <a:solidFill>
                  <a:srgbClr val="1B2B2E"/>
                </a:solidFill>
                <a:latin typeface="Times New Roman" panose="02020603050405020304" pitchFamily="18" charset="0"/>
                <a:ea typeface="Calibri" pitchFamily="34" charset="-122"/>
                <a:cs typeface="Times New Roman" panose="02020603050405020304" pitchFamily="18" charset="0"/>
              </a:rPr>
              <a:t>Development + Security + Operations</a:t>
            </a:r>
            <a:r>
              <a:rPr lang="en-US" sz="1500" dirty="0">
                <a:solidFill>
                  <a:srgbClr val="1B2B2E"/>
                </a:solidFill>
                <a:latin typeface="Calibri" pitchFamily="34" charset="0"/>
                <a:ea typeface="Calibri" pitchFamily="34" charset="-122"/>
                <a:cs typeface="Calibri" pitchFamily="34" charset="-120"/>
              </a:rPr>
              <a:t>.</a:t>
            </a:r>
            <a:endParaRPr lang="en-US" sz="1500" dirty="0"/>
          </a:p>
        </p:txBody>
      </p:sp>
      <p:sp>
        <p:nvSpPr>
          <p:cNvPr id="6" name="Shape 4"/>
          <p:cNvSpPr/>
          <p:nvPr/>
        </p:nvSpPr>
        <p:spPr>
          <a:xfrm>
            <a:off x="651891" y="2633472"/>
            <a:ext cx="128016" cy="128016"/>
          </a:xfrm>
          <a:prstGeom prst="ellipse">
            <a:avLst/>
          </a:prstGeom>
          <a:solidFill>
            <a:srgbClr val="02C39A"/>
          </a:solidFill>
          <a:ln/>
        </p:spPr>
      </p:sp>
      <p:sp>
        <p:nvSpPr>
          <p:cNvPr id="7" name="Text 5"/>
          <p:cNvSpPr/>
          <p:nvPr/>
        </p:nvSpPr>
        <p:spPr>
          <a:xfrm>
            <a:off x="968883" y="2446020"/>
            <a:ext cx="6309360" cy="502920"/>
          </a:xfrm>
          <a:prstGeom prst="rect">
            <a:avLst/>
          </a:prstGeom>
          <a:noFill/>
          <a:ln/>
        </p:spPr>
        <p:txBody>
          <a:bodyPr wrap="square" rtlCol="0" anchor="t"/>
          <a:lstStyle/>
          <a:p>
            <a:pPr marL="0" indent="0">
              <a:lnSpc>
                <a:spcPct val="110000"/>
              </a:lnSpc>
              <a:buNone/>
            </a:pP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Security is integrated throughout the software development process</a:t>
            </a:r>
            <a:r>
              <a:rPr lang="en-US" sz="1500" dirty="0">
                <a:solidFill>
                  <a:srgbClr val="1B2B2E"/>
                </a:solidFill>
                <a:latin typeface="Calibri" pitchFamily="34" charset="0"/>
                <a:ea typeface="Calibri" pitchFamily="34" charset="-122"/>
                <a:cs typeface="Calibri" pitchFamily="34" charset="-120"/>
              </a:rPr>
              <a:t>.</a:t>
            </a:r>
            <a:endParaRPr lang="en-US" sz="1500" dirty="0"/>
          </a:p>
        </p:txBody>
      </p:sp>
      <p:sp>
        <p:nvSpPr>
          <p:cNvPr id="8" name="Shape 6"/>
          <p:cNvSpPr/>
          <p:nvPr/>
        </p:nvSpPr>
        <p:spPr>
          <a:xfrm>
            <a:off x="669036" y="3776472"/>
            <a:ext cx="128016" cy="128016"/>
          </a:xfrm>
          <a:prstGeom prst="ellipse">
            <a:avLst/>
          </a:prstGeom>
          <a:solidFill>
            <a:srgbClr val="02C39A"/>
          </a:solidFill>
          <a:ln/>
        </p:spPr>
      </p:sp>
      <p:sp>
        <p:nvSpPr>
          <p:cNvPr id="9" name="Text 7"/>
          <p:cNvSpPr/>
          <p:nvPr/>
        </p:nvSpPr>
        <p:spPr>
          <a:xfrm>
            <a:off x="853440" y="3653028"/>
            <a:ext cx="6309360" cy="502920"/>
          </a:xfrm>
          <a:prstGeom prst="rect">
            <a:avLst/>
          </a:prstGeom>
          <a:noFill/>
          <a:ln/>
        </p:spPr>
        <p:txBody>
          <a:bodyPr wrap="square" rtlCol="0" anchor="t"/>
          <a:lstStyle/>
          <a:p>
            <a:pPr marL="0" indent="0">
              <a:lnSpc>
                <a:spcPct val="110000"/>
              </a:lnSpc>
              <a:buNone/>
            </a:pP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The main goal is to build applications that are secure from the beginning.</a:t>
            </a:r>
            <a:endParaRPr lang="en-US" sz="2000" dirty="0">
              <a:latin typeface="Times New Roman" panose="02020603050405020304" pitchFamily="18" charset="0"/>
              <a:cs typeface="Times New Roman" panose="02020603050405020304" pitchFamily="18" charset="0"/>
            </a:endParaRPr>
          </a:p>
        </p:txBody>
      </p:sp>
      <p:sp>
        <p:nvSpPr>
          <p:cNvPr id="10" name="Shape 8"/>
          <p:cNvSpPr/>
          <p:nvPr/>
        </p:nvSpPr>
        <p:spPr>
          <a:xfrm>
            <a:off x="677418" y="5102352"/>
            <a:ext cx="128016" cy="128016"/>
          </a:xfrm>
          <a:prstGeom prst="ellipse">
            <a:avLst/>
          </a:prstGeom>
          <a:solidFill>
            <a:srgbClr val="02C39A"/>
          </a:solidFill>
          <a:ln/>
        </p:spPr>
        <p:txBody>
          <a:bodyPr/>
          <a:lstStyle/>
          <a:p>
            <a:endParaRPr lang="en-US" dirty="0"/>
          </a:p>
        </p:txBody>
      </p:sp>
      <p:sp>
        <p:nvSpPr>
          <p:cNvPr id="11" name="Text 9"/>
          <p:cNvSpPr/>
          <p:nvPr/>
        </p:nvSpPr>
        <p:spPr>
          <a:xfrm>
            <a:off x="942213" y="4914900"/>
            <a:ext cx="6309360" cy="502920"/>
          </a:xfrm>
          <a:prstGeom prst="rect">
            <a:avLst/>
          </a:prstGeom>
          <a:noFill/>
          <a:ln/>
        </p:spPr>
        <p:txBody>
          <a:bodyPr wrap="square" rtlCol="0" anchor="t"/>
          <a:lstStyle/>
          <a:p>
            <a:pPr marL="0" indent="0">
              <a:lnSpc>
                <a:spcPct val="110000"/>
              </a:lnSpc>
              <a:buNone/>
            </a:pP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DevSecOps follows the concept of “</a:t>
            </a:r>
            <a:r>
              <a:rPr lang="en-US" sz="2000" b="1" dirty="0">
                <a:solidFill>
                  <a:srgbClr val="1B2B2E"/>
                </a:solidFill>
                <a:latin typeface="Times New Roman" panose="02020603050405020304" pitchFamily="18" charset="0"/>
                <a:ea typeface="Calibri" pitchFamily="34" charset="-122"/>
                <a:cs typeface="Times New Roman" panose="02020603050405020304" pitchFamily="18" charset="0"/>
              </a:rPr>
              <a:t>Secure by Default</a:t>
            </a: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2" name="Shape 10"/>
          <p:cNvSpPr/>
          <p:nvPr/>
        </p:nvSpPr>
        <p:spPr>
          <a:xfrm>
            <a:off x="7452360" y="1691640"/>
            <a:ext cx="4114800" cy="3566160"/>
          </a:xfrm>
          <a:prstGeom prst="roundRect">
            <a:avLst>
              <a:gd name="adj" fmla="val 3077"/>
            </a:avLst>
          </a:prstGeom>
          <a:solidFill>
            <a:srgbClr val="028090"/>
          </a:solidFill>
          <a:ln/>
          <a:effectLst>
            <a:outerShdw blurRad="101600" dist="38100" dir="5400000" algn="bl" rotWithShape="0">
              <a:srgbClr val="000000">
                <a:alpha val="25000"/>
              </a:srgbClr>
            </a:outerShdw>
          </a:effectLst>
        </p:spPr>
      </p:sp>
      <p:sp>
        <p:nvSpPr>
          <p:cNvPr id="13" name="Text 11"/>
          <p:cNvSpPr/>
          <p:nvPr/>
        </p:nvSpPr>
        <p:spPr>
          <a:xfrm>
            <a:off x="7680960" y="1828800"/>
            <a:ext cx="914400" cy="914400"/>
          </a:xfrm>
          <a:prstGeom prst="rect">
            <a:avLst/>
          </a:prstGeom>
          <a:noFill/>
          <a:ln/>
        </p:spPr>
        <p:txBody>
          <a:bodyPr wrap="square" rtlCol="0" anchor="ctr"/>
          <a:lstStyle/>
          <a:p>
            <a:pPr marL="0" indent="0">
              <a:buNone/>
            </a:pPr>
            <a:r>
              <a:rPr lang="en-US" sz="6000" b="1" dirty="0">
                <a:solidFill>
                  <a:srgbClr val="02C39A"/>
                </a:solidFill>
                <a:latin typeface="Cambria" pitchFamily="34" charset="0"/>
                <a:ea typeface="Cambria" pitchFamily="34" charset="-122"/>
                <a:cs typeface="Cambria" pitchFamily="34" charset="-120"/>
              </a:rPr>
              <a:t>“</a:t>
            </a:r>
            <a:endParaRPr lang="en-US" sz="6000" dirty="0"/>
          </a:p>
        </p:txBody>
      </p:sp>
      <p:sp>
        <p:nvSpPr>
          <p:cNvPr id="14" name="Text 12"/>
          <p:cNvSpPr/>
          <p:nvPr/>
        </p:nvSpPr>
        <p:spPr>
          <a:xfrm>
            <a:off x="7818120" y="2606040"/>
            <a:ext cx="3520440" cy="2377440"/>
          </a:xfrm>
          <a:prstGeom prst="rect">
            <a:avLst/>
          </a:prstGeom>
          <a:noFill/>
          <a:ln/>
        </p:spPr>
        <p:txBody>
          <a:bodyPr wrap="square" rtlCol="0" anchor="t"/>
          <a:lstStyle/>
          <a:p>
            <a:pPr marL="0" indent="0">
              <a:lnSpc>
                <a:spcPct val="125000"/>
              </a:lnSpc>
              <a:buNone/>
            </a:pPr>
            <a:r>
              <a:rPr lang="en-US" i="1" dirty="0">
                <a:solidFill>
                  <a:srgbClr val="FFFFFF"/>
                </a:solidFill>
                <a:latin typeface="Times New Roman" panose="02020603050405020304" pitchFamily="18" charset="0"/>
                <a:ea typeface="Calibri" pitchFamily="34" charset="-122"/>
                <a:cs typeface="Times New Roman" panose="02020603050405020304" pitchFamily="18" charset="0"/>
              </a:rPr>
              <a:t>DevSecOps helps organizations develop software quickly while maintaining security at every stage</a:t>
            </a:r>
            <a:r>
              <a:rPr lang="en-US" sz="1550" i="1" dirty="0">
                <a:solidFill>
                  <a:srgbClr val="FFFFFF"/>
                </a:solidFill>
                <a:latin typeface="Calibri" pitchFamily="34" charset="0"/>
                <a:ea typeface="Calibri" pitchFamily="34" charset="-122"/>
                <a:cs typeface="Calibri" pitchFamily="34" charset="-120"/>
              </a:rPr>
              <a:t>.</a:t>
            </a:r>
            <a:endParaRPr lang="en-US" sz="1550" dirty="0"/>
          </a:p>
        </p:txBody>
      </p:sp>
      <p:sp>
        <p:nvSpPr>
          <p:cNvPr id="16" name="Text 13"/>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E7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9144000" cy="640080"/>
          </a:xfrm>
          <a:prstGeom prst="rect">
            <a:avLst/>
          </a:prstGeom>
          <a:noFill/>
          <a:ln/>
        </p:spPr>
        <p:txBody>
          <a:bodyPr wrap="square" rtlCol="0" anchor="ctr"/>
          <a:lstStyle/>
          <a:p>
            <a:pPr marL="0" indent="0">
              <a:buNone/>
            </a:pPr>
            <a:r>
              <a:rPr lang="en-US" sz="3200" b="1" dirty="0">
                <a:solidFill>
                  <a:srgbClr val="1B2B2E"/>
                </a:solidFill>
                <a:latin typeface="Cambria" pitchFamily="34" charset="0"/>
                <a:ea typeface="Cambria" pitchFamily="34" charset="-122"/>
                <a:cs typeface="Cambria" pitchFamily="34" charset="-120"/>
              </a:rPr>
              <a:t>What is Secure by Default?</a:t>
            </a:r>
            <a:endParaRPr lang="en-US" sz="3200" dirty="0"/>
          </a:p>
        </p:txBody>
      </p:sp>
      <p:sp>
        <p:nvSpPr>
          <p:cNvPr id="3" name="Shape 1"/>
          <p:cNvSpPr/>
          <p:nvPr/>
        </p:nvSpPr>
        <p:spPr>
          <a:xfrm>
            <a:off x="640080" y="1600200"/>
            <a:ext cx="6035040" cy="777240"/>
          </a:xfrm>
          <a:prstGeom prst="roundRect">
            <a:avLst>
              <a:gd name="adj" fmla="val 9412"/>
            </a:avLst>
          </a:prstGeom>
          <a:solidFill>
            <a:srgbClr val="F1F7F7"/>
          </a:solidFill>
          <a:ln/>
        </p:spPr>
      </p:sp>
      <p:sp>
        <p:nvSpPr>
          <p:cNvPr id="4" name="Shape 2"/>
          <p:cNvSpPr/>
          <p:nvPr/>
        </p:nvSpPr>
        <p:spPr>
          <a:xfrm>
            <a:off x="822960" y="1773936"/>
            <a:ext cx="420624" cy="420624"/>
          </a:xfrm>
          <a:prstGeom prst="ellipse">
            <a:avLst/>
          </a:prstGeom>
          <a:solidFill>
            <a:srgbClr val="00A896"/>
          </a:solidFill>
          <a:ln/>
        </p:spPr>
      </p:sp>
      <p:sp>
        <p:nvSpPr>
          <p:cNvPr id="5" name="Text 3"/>
          <p:cNvSpPr/>
          <p:nvPr/>
        </p:nvSpPr>
        <p:spPr>
          <a:xfrm>
            <a:off x="1463040" y="1645920"/>
            <a:ext cx="5120640" cy="685800"/>
          </a:xfrm>
          <a:prstGeom prst="rect">
            <a:avLst/>
          </a:prstGeom>
          <a:noFill/>
          <a:ln/>
        </p:spPr>
        <p:txBody>
          <a:bodyPr wrap="square" rtlCol="0" anchor="ctr"/>
          <a:lstStyle/>
          <a:p>
            <a:pPr marL="0" indent="0">
              <a:buNone/>
            </a:pP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Security is enabled automatically</a:t>
            </a:r>
            <a:r>
              <a:rPr lang="en-US" sz="2000" dirty="0">
                <a:solidFill>
                  <a:srgbClr val="1B2B2E"/>
                </a:solidFill>
                <a:latin typeface="Calibri" pitchFamily="34" charset="0"/>
                <a:ea typeface="Calibri" pitchFamily="34" charset="-122"/>
                <a:cs typeface="Calibri" pitchFamily="34" charset="-120"/>
              </a:rPr>
              <a:t>.</a:t>
            </a:r>
            <a:endParaRPr lang="en-US" sz="2000" dirty="0"/>
          </a:p>
        </p:txBody>
      </p:sp>
      <p:sp>
        <p:nvSpPr>
          <p:cNvPr id="6" name="Shape 4"/>
          <p:cNvSpPr/>
          <p:nvPr/>
        </p:nvSpPr>
        <p:spPr>
          <a:xfrm>
            <a:off x="640080" y="2532888"/>
            <a:ext cx="6035040" cy="777240"/>
          </a:xfrm>
          <a:prstGeom prst="roundRect">
            <a:avLst>
              <a:gd name="adj" fmla="val 9412"/>
            </a:avLst>
          </a:prstGeom>
          <a:solidFill>
            <a:srgbClr val="F1F7F7"/>
          </a:solidFill>
          <a:ln/>
        </p:spPr>
      </p:sp>
      <p:sp>
        <p:nvSpPr>
          <p:cNvPr id="7" name="Shape 5"/>
          <p:cNvSpPr/>
          <p:nvPr/>
        </p:nvSpPr>
        <p:spPr>
          <a:xfrm>
            <a:off x="822960" y="2706624"/>
            <a:ext cx="420624" cy="420624"/>
          </a:xfrm>
          <a:prstGeom prst="ellipse">
            <a:avLst/>
          </a:prstGeom>
          <a:solidFill>
            <a:srgbClr val="00A896"/>
          </a:solidFill>
          <a:ln/>
        </p:spPr>
      </p:sp>
      <p:sp>
        <p:nvSpPr>
          <p:cNvPr id="8" name="Text 6"/>
          <p:cNvSpPr/>
          <p:nvPr/>
        </p:nvSpPr>
        <p:spPr>
          <a:xfrm>
            <a:off x="1463040" y="2578608"/>
            <a:ext cx="5120640" cy="685800"/>
          </a:xfrm>
          <a:prstGeom prst="rect">
            <a:avLst/>
          </a:prstGeom>
          <a:noFill/>
          <a:ln/>
        </p:spPr>
        <p:txBody>
          <a:bodyPr wrap="square" rtlCol="0" anchor="ctr"/>
          <a:lstStyle/>
          <a:p>
            <a:pPr marL="0" indent="0">
              <a:buNone/>
            </a:pP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Applications use secure configurations from the beginning</a:t>
            </a:r>
            <a:r>
              <a:rPr lang="en-US" sz="1400" dirty="0">
                <a:solidFill>
                  <a:srgbClr val="1B2B2E"/>
                </a:solidFill>
                <a:latin typeface="Times New Roman" panose="02020603050405020304" pitchFamily="18" charset="0"/>
                <a:ea typeface="Calibri"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9" name="Shape 7"/>
          <p:cNvSpPr/>
          <p:nvPr/>
        </p:nvSpPr>
        <p:spPr>
          <a:xfrm>
            <a:off x="640080" y="3465576"/>
            <a:ext cx="6035040" cy="777240"/>
          </a:xfrm>
          <a:prstGeom prst="roundRect">
            <a:avLst>
              <a:gd name="adj" fmla="val 9412"/>
            </a:avLst>
          </a:prstGeom>
          <a:solidFill>
            <a:srgbClr val="F1F7F7"/>
          </a:solidFill>
          <a:ln/>
        </p:spPr>
      </p:sp>
      <p:sp>
        <p:nvSpPr>
          <p:cNvPr id="10" name="Shape 8"/>
          <p:cNvSpPr/>
          <p:nvPr/>
        </p:nvSpPr>
        <p:spPr>
          <a:xfrm>
            <a:off x="822960" y="3639312"/>
            <a:ext cx="420624" cy="420624"/>
          </a:xfrm>
          <a:prstGeom prst="ellipse">
            <a:avLst/>
          </a:prstGeom>
          <a:solidFill>
            <a:srgbClr val="00A896"/>
          </a:solidFill>
          <a:ln/>
        </p:spPr>
      </p:sp>
      <p:sp>
        <p:nvSpPr>
          <p:cNvPr id="11" name="Text 9"/>
          <p:cNvSpPr/>
          <p:nvPr/>
        </p:nvSpPr>
        <p:spPr>
          <a:xfrm>
            <a:off x="1463040" y="3511296"/>
            <a:ext cx="5120640" cy="685800"/>
          </a:xfrm>
          <a:prstGeom prst="rect">
            <a:avLst/>
          </a:prstGeom>
          <a:noFill/>
          <a:ln/>
        </p:spPr>
        <p:txBody>
          <a:bodyPr wrap="square" rtlCol="0" anchor="ctr"/>
          <a:lstStyle/>
          <a:p>
            <a:pPr marL="0" indent="0">
              <a:buNone/>
            </a:pP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Developers do not need to add security only at the end</a:t>
            </a:r>
            <a:r>
              <a:rPr lang="en-US" sz="1400" dirty="0">
                <a:solidFill>
                  <a:srgbClr val="1B2B2E"/>
                </a:solidFill>
                <a:latin typeface="Times New Roman" panose="02020603050405020304" pitchFamily="18" charset="0"/>
                <a:ea typeface="Calibri"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12" name="Shape 10"/>
          <p:cNvSpPr/>
          <p:nvPr/>
        </p:nvSpPr>
        <p:spPr>
          <a:xfrm>
            <a:off x="548640" y="4399407"/>
            <a:ext cx="6035040" cy="777240"/>
          </a:xfrm>
          <a:prstGeom prst="roundRect">
            <a:avLst>
              <a:gd name="adj" fmla="val 9412"/>
            </a:avLst>
          </a:prstGeom>
          <a:solidFill>
            <a:srgbClr val="F1F7F7"/>
          </a:solidFill>
          <a:ln/>
        </p:spPr>
      </p:sp>
      <p:sp>
        <p:nvSpPr>
          <p:cNvPr id="13" name="Shape 11"/>
          <p:cNvSpPr/>
          <p:nvPr/>
        </p:nvSpPr>
        <p:spPr>
          <a:xfrm>
            <a:off x="822960" y="4572000"/>
            <a:ext cx="420624" cy="420624"/>
          </a:xfrm>
          <a:prstGeom prst="ellipse">
            <a:avLst/>
          </a:prstGeom>
          <a:solidFill>
            <a:srgbClr val="00A896"/>
          </a:solidFill>
          <a:ln/>
        </p:spPr>
      </p:sp>
      <p:sp>
        <p:nvSpPr>
          <p:cNvPr id="14" name="Text 12"/>
          <p:cNvSpPr/>
          <p:nvPr/>
        </p:nvSpPr>
        <p:spPr>
          <a:xfrm>
            <a:off x="1463040" y="4443984"/>
            <a:ext cx="5120640" cy="685800"/>
          </a:xfrm>
          <a:prstGeom prst="rect">
            <a:avLst/>
          </a:prstGeom>
          <a:noFill/>
          <a:ln/>
        </p:spPr>
        <p:txBody>
          <a:bodyPr wrap="square" rtlCol="0" anchor="ctr"/>
          <a:lstStyle/>
          <a:p>
            <a:pPr marL="0" indent="0">
              <a:buNone/>
            </a:pP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It reduces the chances of security mistakes</a:t>
            </a:r>
            <a:r>
              <a:rPr lang="en-US" sz="1400" dirty="0">
                <a:solidFill>
                  <a:srgbClr val="1B2B2E"/>
                </a:solidFill>
                <a:latin typeface="Times New Roman" panose="02020603050405020304" pitchFamily="18" charset="0"/>
                <a:ea typeface="Calibri"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15" name="Shape 13"/>
          <p:cNvSpPr/>
          <p:nvPr/>
        </p:nvSpPr>
        <p:spPr>
          <a:xfrm>
            <a:off x="7040880" y="1600200"/>
            <a:ext cx="4526280" cy="4251960"/>
          </a:xfrm>
          <a:prstGeom prst="roundRect">
            <a:avLst>
              <a:gd name="adj" fmla="val 2581"/>
            </a:avLst>
          </a:prstGeom>
          <a:solidFill>
            <a:srgbClr val="0B2027"/>
          </a:solidFill>
          <a:ln/>
        </p:spPr>
      </p:sp>
      <p:sp>
        <p:nvSpPr>
          <p:cNvPr id="16" name="Text 14"/>
          <p:cNvSpPr/>
          <p:nvPr/>
        </p:nvSpPr>
        <p:spPr>
          <a:xfrm>
            <a:off x="7360920" y="1828800"/>
            <a:ext cx="3657600" cy="320040"/>
          </a:xfrm>
          <a:prstGeom prst="rect">
            <a:avLst/>
          </a:prstGeom>
          <a:noFill/>
          <a:ln/>
        </p:spPr>
        <p:txBody>
          <a:bodyPr wrap="square" rtlCol="0" anchor="ctr"/>
          <a:lstStyle/>
          <a:p>
            <a:pPr marL="0" indent="0">
              <a:buNone/>
            </a:pPr>
            <a:r>
              <a:rPr lang="en-US" sz="1200" b="1" kern="0" spc="200" dirty="0">
                <a:solidFill>
                  <a:srgbClr val="02C39A"/>
                </a:solidFill>
                <a:latin typeface="Calibri" pitchFamily="34" charset="0"/>
                <a:ea typeface="Calibri" pitchFamily="34" charset="-122"/>
                <a:cs typeface="Calibri" pitchFamily="34" charset="-120"/>
              </a:rPr>
              <a:t>EXAMPLE</a:t>
            </a:r>
            <a:endParaRPr lang="en-US" sz="1200" dirty="0"/>
          </a:p>
        </p:txBody>
      </p:sp>
      <p:sp>
        <p:nvSpPr>
          <p:cNvPr id="17" name="Text 15"/>
          <p:cNvSpPr/>
          <p:nvPr/>
        </p:nvSpPr>
        <p:spPr>
          <a:xfrm>
            <a:off x="7360920" y="2240280"/>
            <a:ext cx="3931920" cy="1234440"/>
          </a:xfrm>
          <a:prstGeom prst="rect">
            <a:avLst/>
          </a:prstGeom>
          <a:noFill/>
          <a:ln/>
        </p:spPr>
        <p:txBody>
          <a:bodyPr wrap="square" rtlCol="0" anchor="t"/>
          <a:lstStyle/>
          <a:p>
            <a:pPr marL="0" indent="0">
              <a:lnSpc>
                <a:spcPct val="125000"/>
              </a:lnSpc>
              <a:buNone/>
            </a:pPr>
            <a:r>
              <a:rPr lang="en-US" sz="1500" dirty="0">
                <a:solidFill>
                  <a:srgbClr val="FFFFFF"/>
                </a:solidFill>
                <a:latin typeface="Calibri" pitchFamily="34" charset="0"/>
                <a:ea typeface="Calibri" pitchFamily="34" charset="-122"/>
                <a:cs typeface="Calibri" pitchFamily="34" charset="-120"/>
              </a:rPr>
              <a:t>A new application automatically uses strong passwords, access control, and secure settings.</a:t>
            </a:r>
            <a:endParaRPr lang="en-US" sz="1500" dirty="0"/>
          </a:p>
        </p:txBody>
      </p:sp>
      <p:sp>
        <p:nvSpPr>
          <p:cNvPr id="18" name="Shape 16"/>
          <p:cNvSpPr/>
          <p:nvPr/>
        </p:nvSpPr>
        <p:spPr>
          <a:xfrm>
            <a:off x="7360920" y="3703320"/>
            <a:ext cx="3931920" cy="457200"/>
          </a:xfrm>
          <a:prstGeom prst="roundRect">
            <a:avLst>
              <a:gd name="adj" fmla="val 50000"/>
            </a:avLst>
          </a:prstGeom>
          <a:solidFill>
            <a:srgbClr val="028090"/>
          </a:solidFill>
          <a:ln/>
        </p:spPr>
      </p:sp>
      <p:sp>
        <p:nvSpPr>
          <p:cNvPr id="19" name="Text 17"/>
          <p:cNvSpPr/>
          <p:nvPr/>
        </p:nvSpPr>
        <p:spPr>
          <a:xfrm>
            <a:off x="7360920" y="3703320"/>
            <a:ext cx="3931920" cy="4572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Strong Passwords</a:t>
            </a:r>
            <a:endParaRPr lang="en-US" sz="1250" dirty="0"/>
          </a:p>
        </p:txBody>
      </p:sp>
      <p:sp>
        <p:nvSpPr>
          <p:cNvPr id="20" name="Shape 18"/>
          <p:cNvSpPr/>
          <p:nvPr/>
        </p:nvSpPr>
        <p:spPr>
          <a:xfrm>
            <a:off x="7360920" y="4270248"/>
            <a:ext cx="3931920" cy="457200"/>
          </a:xfrm>
          <a:prstGeom prst="roundRect">
            <a:avLst>
              <a:gd name="adj" fmla="val 50000"/>
            </a:avLst>
          </a:prstGeom>
          <a:solidFill>
            <a:srgbClr val="028090"/>
          </a:solidFill>
          <a:ln/>
        </p:spPr>
      </p:sp>
      <p:sp>
        <p:nvSpPr>
          <p:cNvPr id="21" name="Text 19"/>
          <p:cNvSpPr/>
          <p:nvPr/>
        </p:nvSpPr>
        <p:spPr>
          <a:xfrm>
            <a:off x="7360920" y="4270248"/>
            <a:ext cx="3931920" cy="4572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Access Control</a:t>
            </a:r>
            <a:endParaRPr lang="en-US" sz="1250" dirty="0"/>
          </a:p>
        </p:txBody>
      </p:sp>
      <p:sp>
        <p:nvSpPr>
          <p:cNvPr id="22" name="Shape 20"/>
          <p:cNvSpPr/>
          <p:nvPr/>
        </p:nvSpPr>
        <p:spPr>
          <a:xfrm>
            <a:off x="7360920" y="4837176"/>
            <a:ext cx="3931920" cy="457200"/>
          </a:xfrm>
          <a:prstGeom prst="roundRect">
            <a:avLst>
              <a:gd name="adj" fmla="val 50000"/>
            </a:avLst>
          </a:prstGeom>
          <a:solidFill>
            <a:srgbClr val="028090"/>
          </a:solidFill>
          <a:ln/>
        </p:spPr>
      </p:sp>
      <p:sp>
        <p:nvSpPr>
          <p:cNvPr id="23" name="Text 21"/>
          <p:cNvSpPr/>
          <p:nvPr/>
        </p:nvSpPr>
        <p:spPr>
          <a:xfrm>
            <a:off x="7360920" y="4837176"/>
            <a:ext cx="3931920" cy="4572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Secure Settings</a:t>
            </a:r>
            <a:endParaRPr lang="en-US" sz="1250" dirty="0"/>
          </a:p>
        </p:txBody>
      </p:sp>
      <p:sp>
        <p:nvSpPr>
          <p:cNvPr id="25" name="Text 22"/>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E7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27507" y="1170432"/>
            <a:ext cx="9144000" cy="640080"/>
          </a:xfrm>
          <a:prstGeom prst="rect">
            <a:avLst/>
          </a:prstGeom>
          <a:noFill/>
          <a:ln/>
        </p:spPr>
        <p:txBody>
          <a:bodyPr wrap="square" rtlCol="0" anchor="ctr"/>
          <a:lstStyle/>
          <a:p>
            <a:pPr marL="0" indent="0">
              <a:buNone/>
            </a:pPr>
            <a:r>
              <a:rPr lang="en-US" sz="3200" b="1" dirty="0">
                <a:solidFill>
                  <a:srgbClr val="1B2B2E"/>
                </a:solidFill>
                <a:latin typeface="Cambria" pitchFamily="34" charset="0"/>
                <a:ea typeface="Cambria" pitchFamily="34" charset="-122"/>
                <a:cs typeface="Cambria" pitchFamily="34" charset="-120"/>
              </a:rPr>
              <a:t>The DevSecOps Journey</a:t>
            </a:r>
            <a:endParaRPr lang="en-US" sz="3200" dirty="0"/>
          </a:p>
        </p:txBody>
      </p:sp>
      <p:sp>
        <p:nvSpPr>
          <p:cNvPr id="3" name="Shape 1"/>
          <p:cNvSpPr/>
          <p:nvPr/>
        </p:nvSpPr>
        <p:spPr>
          <a:xfrm>
            <a:off x="822960" y="2903220"/>
            <a:ext cx="10835640" cy="0"/>
          </a:xfrm>
          <a:prstGeom prst="line">
            <a:avLst/>
          </a:prstGeom>
          <a:noFill/>
          <a:ln w="38100">
            <a:solidFill>
              <a:srgbClr val="00A896"/>
            </a:solidFill>
            <a:prstDash val="solid"/>
          </a:ln>
        </p:spPr>
      </p:sp>
      <p:sp>
        <p:nvSpPr>
          <p:cNvPr id="4" name="Shape 2"/>
          <p:cNvSpPr/>
          <p:nvPr/>
        </p:nvSpPr>
        <p:spPr>
          <a:xfrm>
            <a:off x="470916" y="2587752"/>
            <a:ext cx="585216" cy="585216"/>
          </a:xfrm>
          <a:prstGeom prst="ellipse">
            <a:avLst/>
          </a:prstGeom>
          <a:solidFill>
            <a:srgbClr val="028090"/>
          </a:solidFill>
          <a:ln w="38100">
            <a:solidFill>
              <a:srgbClr val="FFFFFF"/>
            </a:solidFill>
            <a:prstDash val="solid"/>
          </a:ln>
        </p:spPr>
      </p:sp>
      <p:sp>
        <p:nvSpPr>
          <p:cNvPr id="5" name="Text 3"/>
          <p:cNvSpPr/>
          <p:nvPr/>
        </p:nvSpPr>
        <p:spPr>
          <a:xfrm>
            <a:off x="470916" y="2587752"/>
            <a:ext cx="585216" cy="58521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45720" y="3337560"/>
            <a:ext cx="1280160" cy="365760"/>
          </a:xfrm>
          <a:prstGeom prst="rect">
            <a:avLst/>
          </a:prstGeom>
          <a:noFill/>
          <a:ln/>
        </p:spPr>
        <p:txBody>
          <a:bodyPr wrap="square" rtlCol="0" anchor="ctr"/>
          <a:lstStyle/>
          <a:p>
            <a:pPr marL="0" indent="0" algn="ctr">
              <a:buNone/>
            </a:pPr>
            <a:r>
              <a:rPr lang="en-US" sz="2000" b="1" dirty="0">
                <a:solidFill>
                  <a:srgbClr val="1B2B2E"/>
                </a:solidFill>
                <a:latin typeface="Times New Roman" panose="02020603050405020304" pitchFamily="18" charset="0"/>
                <a:ea typeface="Calibri" pitchFamily="34" charset="-122"/>
                <a:cs typeface="Times New Roman" panose="02020603050405020304" pitchFamily="18" charset="0"/>
              </a:rPr>
              <a:t>Plan</a:t>
            </a:r>
            <a:endParaRPr lang="en-US" sz="2000" dirty="0">
              <a:latin typeface="Times New Roman" panose="02020603050405020304" pitchFamily="18" charset="0"/>
              <a:cs typeface="Times New Roman" panose="02020603050405020304" pitchFamily="18" charset="0"/>
            </a:endParaRPr>
          </a:p>
        </p:txBody>
      </p:sp>
      <p:sp>
        <p:nvSpPr>
          <p:cNvPr id="7" name="Shape 5"/>
          <p:cNvSpPr/>
          <p:nvPr/>
        </p:nvSpPr>
        <p:spPr>
          <a:xfrm>
            <a:off x="2199132" y="2587752"/>
            <a:ext cx="585216" cy="585216"/>
          </a:xfrm>
          <a:prstGeom prst="ellipse">
            <a:avLst/>
          </a:prstGeom>
          <a:solidFill>
            <a:srgbClr val="02C39A"/>
          </a:solidFill>
          <a:ln w="38100">
            <a:solidFill>
              <a:srgbClr val="FFFFFF"/>
            </a:solidFill>
            <a:prstDash val="solid"/>
          </a:ln>
        </p:spPr>
      </p:sp>
      <p:sp>
        <p:nvSpPr>
          <p:cNvPr id="8" name="Text 6"/>
          <p:cNvSpPr/>
          <p:nvPr/>
        </p:nvSpPr>
        <p:spPr>
          <a:xfrm>
            <a:off x="2199132" y="2587752"/>
            <a:ext cx="585216" cy="58521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851660" y="3337560"/>
            <a:ext cx="1280160" cy="365760"/>
          </a:xfrm>
          <a:prstGeom prst="rect">
            <a:avLst/>
          </a:prstGeom>
          <a:noFill/>
          <a:ln/>
        </p:spPr>
        <p:txBody>
          <a:bodyPr wrap="square" rtlCol="0" anchor="ctr"/>
          <a:lstStyle/>
          <a:p>
            <a:pPr marL="0" indent="0" algn="ctr">
              <a:buNone/>
            </a:pPr>
            <a:r>
              <a:rPr lang="en-US" sz="2000" b="1" dirty="0">
                <a:solidFill>
                  <a:srgbClr val="1B2B2E"/>
                </a:solidFill>
                <a:latin typeface="Times New Roman" panose="02020603050405020304" pitchFamily="18" charset="0"/>
                <a:ea typeface="Calibri" pitchFamily="34" charset="-122"/>
                <a:cs typeface="Times New Roman" panose="02020603050405020304" pitchFamily="18" charset="0"/>
              </a:rPr>
              <a:t>Code</a:t>
            </a:r>
            <a:endParaRPr lang="en-US" sz="2000" dirty="0">
              <a:latin typeface="Times New Roman" panose="02020603050405020304" pitchFamily="18" charset="0"/>
              <a:cs typeface="Times New Roman" panose="02020603050405020304" pitchFamily="18" charset="0"/>
            </a:endParaRPr>
          </a:p>
        </p:txBody>
      </p:sp>
      <p:sp>
        <p:nvSpPr>
          <p:cNvPr id="10" name="Shape 8"/>
          <p:cNvSpPr/>
          <p:nvPr/>
        </p:nvSpPr>
        <p:spPr>
          <a:xfrm>
            <a:off x="4005072" y="2587752"/>
            <a:ext cx="585216" cy="585216"/>
          </a:xfrm>
          <a:prstGeom prst="ellipse">
            <a:avLst/>
          </a:prstGeom>
          <a:solidFill>
            <a:srgbClr val="028090"/>
          </a:solidFill>
          <a:ln w="38100">
            <a:solidFill>
              <a:srgbClr val="FFFFFF"/>
            </a:solidFill>
            <a:prstDash val="solid"/>
          </a:ln>
        </p:spPr>
      </p:sp>
      <p:sp>
        <p:nvSpPr>
          <p:cNvPr id="11" name="Text 9"/>
          <p:cNvSpPr/>
          <p:nvPr/>
        </p:nvSpPr>
        <p:spPr>
          <a:xfrm>
            <a:off x="4005072" y="2587752"/>
            <a:ext cx="585216" cy="58521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3657600" y="3337560"/>
            <a:ext cx="1280160" cy="365760"/>
          </a:xfrm>
          <a:prstGeom prst="rect">
            <a:avLst/>
          </a:prstGeom>
          <a:noFill/>
          <a:ln/>
        </p:spPr>
        <p:txBody>
          <a:bodyPr wrap="square" rtlCol="0" anchor="ctr"/>
          <a:lstStyle/>
          <a:p>
            <a:pPr marL="0" indent="0" algn="ctr">
              <a:buNone/>
            </a:pPr>
            <a:r>
              <a:rPr lang="en-US" sz="2000" b="1" dirty="0">
                <a:solidFill>
                  <a:srgbClr val="1B2B2E"/>
                </a:solidFill>
                <a:latin typeface="Times New Roman" panose="02020603050405020304" pitchFamily="18" charset="0"/>
                <a:ea typeface="Calibri" pitchFamily="34" charset="-122"/>
                <a:cs typeface="Times New Roman" panose="02020603050405020304" pitchFamily="18" charset="0"/>
              </a:rPr>
              <a:t>Build</a:t>
            </a:r>
            <a:endParaRPr lang="en-US" sz="2000" dirty="0">
              <a:latin typeface="Times New Roman" panose="02020603050405020304" pitchFamily="18" charset="0"/>
              <a:cs typeface="Times New Roman" panose="02020603050405020304" pitchFamily="18" charset="0"/>
            </a:endParaRPr>
          </a:p>
        </p:txBody>
      </p:sp>
      <p:sp>
        <p:nvSpPr>
          <p:cNvPr id="13" name="Shape 11"/>
          <p:cNvSpPr/>
          <p:nvPr/>
        </p:nvSpPr>
        <p:spPr>
          <a:xfrm>
            <a:off x="5811012" y="2587752"/>
            <a:ext cx="585216" cy="585216"/>
          </a:xfrm>
          <a:prstGeom prst="ellipse">
            <a:avLst/>
          </a:prstGeom>
          <a:solidFill>
            <a:srgbClr val="02C39A"/>
          </a:solidFill>
          <a:ln w="38100">
            <a:solidFill>
              <a:srgbClr val="FFFFFF"/>
            </a:solidFill>
            <a:prstDash val="solid"/>
          </a:ln>
        </p:spPr>
      </p:sp>
      <p:sp>
        <p:nvSpPr>
          <p:cNvPr id="14" name="Text 12"/>
          <p:cNvSpPr/>
          <p:nvPr/>
        </p:nvSpPr>
        <p:spPr>
          <a:xfrm>
            <a:off x="5811012" y="2587752"/>
            <a:ext cx="585216" cy="58521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5463540" y="3337560"/>
            <a:ext cx="1280160" cy="365760"/>
          </a:xfrm>
          <a:prstGeom prst="rect">
            <a:avLst/>
          </a:prstGeom>
          <a:noFill/>
          <a:ln/>
        </p:spPr>
        <p:txBody>
          <a:bodyPr wrap="square" rtlCol="0" anchor="ctr"/>
          <a:lstStyle/>
          <a:p>
            <a:pPr marL="0" indent="0" algn="ctr">
              <a:buNone/>
            </a:pPr>
            <a:r>
              <a:rPr lang="en-US" sz="2000" b="1" dirty="0">
                <a:solidFill>
                  <a:srgbClr val="1B2B2E"/>
                </a:solidFill>
                <a:latin typeface="Times New Roman" panose="02020603050405020304" pitchFamily="18" charset="0"/>
                <a:ea typeface="Calibri" pitchFamily="34" charset="-122"/>
                <a:cs typeface="Times New Roman" panose="02020603050405020304" pitchFamily="18" charset="0"/>
              </a:rPr>
              <a:t>Test</a:t>
            </a:r>
            <a:endParaRPr lang="en-US" sz="2000" dirty="0">
              <a:latin typeface="Times New Roman" panose="02020603050405020304" pitchFamily="18" charset="0"/>
              <a:cs typeface="Times New Roman" panose="02020603050405020304" pitchFamily="18" charset="0"/>
            </a:endParaRPr>
          </a:p>
        </p:txBody>
      </p:sp>
      <p:sp>
        <p:nvSpPr>
          <p:cNvPr id="16" name="Shape 14"/>
          <p:cNvSpPr/>
          <p:nvPr/>
        </p:nvSpPr>
        <p:spPr>
          <a:xfrm>
            <a:off x="7616952" y="2587752"/>
            <a:ext cx="585216" cy="585216"/>
          </a:xfrm>
          <a:prstGeom prst="ellipse">
            <a:avLst/>
          </a:prstGeom>
          <a:solidFill>
            <a:srgbClr val="028090"/>
          </a:solidFill>
          <a:ln w="38100">
            <a:solidFill>
              <a:srgbClr val="FFFFFF"/>
            </a:solidFill>
            <a:prstDash val="solid"/>
          </a:ln>
        </p:spPr>
      </p:sp>
      <p:sp>
        <p:nvSpPr>
          <p:cNvPr id="17" name="Text 15"/>
          <p:cNvSpPr/>
          <p:nvPr/>
        </p:nvSpPr>
        <p:spPr>
          <a:xfrm>
            <a:off x="7616952" y="2587752"/>
            <a:ext cx="585216" cy="58521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p:nvPr/>
        </p:nvSpPr>
        <p:spPr>
          <a:xfrm>
            <a:off x="7269480" y="3337560"/>
            <a:ext cx="1280160" cy="365760"/>
          </a:xfrm>
          <a:prstGeom prst="rect">
            <a:avLst/>
          </a:prstGeom>
          <a:noFill/>
          <a:ln/>
        </p:spPr>
        <p:txBody>
          <a:bodyPr wrap="square" rtlCol="0" anchor="ctr"/>
          <a:lstStyle/>
          <a:p>
            <a:pPr marL="0" indent="0" algn="ctr">
              <a:buNone/>
            </a:pPr>
            <a:r>
              <a:rPr lang="en-US" sz="2000" b="1" dirty="0">
                <a:solidFill>
                  <a:srgbClr val="1B2B2E"/>
                </a:solidFill>
                <a:latin typeface="Times New Roman" panose="02020603050405020304" pitchFamily="18" charset="0"/>
                <a:ea typeface="Calibri" pitchFamily="34" charset="-122"/>
                <a:cs typeface="Times New Roman" panose="02020603050405020304" pitchFamily="18" charset="0"/>
              </a:rPr>
              <a:t>Release</a:t>
            </a:r>
            <a:endParaRPr lang="en-US" sz="2000" dirty="0">
              <a:latin typeface="Times New Roman" panose="02020603050405020304" pitchFamily="18" charset="0"/>
              <a:cs typeface="Times New Roman" panose="02020603050405020304" pitchFamily="18" charset="0"/>
            </a:endParaRPr>
          </a:p>
        </p:txBody>
      </p:sp>
      <p:sp>
        <p:nvSpPr>
          <p:cNvPr id="19" name="Shape 17"/>
          <p:cNvSpPr/>
          <p:nvPr/>
        </p:nvSpPr>
        <p:spPr>
          <a:xfrm>
            <a:off x="9422892" y="2587752"/>
            <a:ext cx="585216" cy="585216"/>
          </a:xfrm>
          <a:prstGeom prst="ellipse">
            <a:avLst/>
          </a:prstGeom>
          <a:solidFill>
            <a:srgbClr val="02C39A"/>
          </a:solidFill>
          <a:ln w="38100">
            <a:solidFill>
              <a:srgbClr val="FFFFFF"/>
            </a:solidFill>
            <a:prstDash val="solid"/>
          </a:ln>
        </p:spPr>
      </p:sp>
      <p:sp>
        <p:nvSpPr>
          <p:cNvPr id="20" name="Text 18"/>
          <p:cNvSpPr/>
          <p:nvPr/>
        </p:nvSpPr>
        <p:spPr>
          <a:xfrm>
            <a:off x="9422892" y="2587752"/>
            <a:ext cx="585216" cy="58521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1" name="Text 19"/>
          <p:cNvSpPr/>
          <p:nvPr/>
        </p:nvSpPr>
        <p:spPr>
          <a:xfrm>
            <a:off x="9075420" y="3337560"/>
            <a:ext cx="1280160" cy="365760"/>
          </a:xfrm>
          <a:prstGeom prst="rect">
            <a:avLst/>
          </a:prstGeom>
          <a:noFill/>
          <a:ln/>
        </p:spPr>
        <p:txBody>
          <a:bodyPr wrap="square" rtlCol="0" anchor="ctr"/>
          <a:lstStyle/>
          <a:p>
            <a:pPr marL="0" indent="0" algn="ctr">
              <a:buNone/>
            </a:pPr>
            <a:r>
              <a:rPr lang="en-US" sz="2000" b="1" dirty="0">
                <a:solidFill>
                  <a:srgbClr val="1B2B2E"/>
                </a:solidFill>
                <a:latin typeface="Times New Roman" panose="02020603050405020304" pitchFamily="18" charset="0"/>
                <a:ea typeface="Calibri" pitchFamily="34" charset="-122"/>
                <a:cs typeface="Times New Roman" panose="02020603050405020304" pitchFamily="18" charset="0"/>
              </a:rPr>
              <a:t>Deploy</a:t>
            </a:r>
            <a:endParaRPr lang="en-US" sz="2000" dirty="0">
              <a:latin typeface="Times New Roman" panose="02020603050405020304" pitchFamily="18" charset="0"/>
              <a:cs typeface="Times New Roman" panose="02020603050405020304" pitchFamily="18" charset="0"/>
            </a:endParaRPr>
          </a:p>
        </p:txBody>
      </p:sp>
      <p:sp>
        <p:nvSpPr>
          <p:cNvPr id="22" name="Shape 20"/>
          <p:cNvSpPr/>
          <p:nvPr/>
        </p:nvSpPr>
        <p:spPr>
          <a:xfrm>
            <a:off x="11228832" y="2587752"/>
            <a:ext cx="585216" cy="585216"/>
          </a:xfrm>
          <a:prstGeom prst="ellipse">
            <a:avLst/>
          </a:prstGeom>
          <a:solidFill>
            <a:srgbClr val="028090"/>
          </a:solidFill>
          <a:ln w="38100">
            <a:solidFill>
              <a:srgbClr val="FFFFFF"/>
            </a:solidFill>
            <a:prstDash val="solid"/>
          </a:ln>
        </p:spPr>
      </p:sp>
      <p:sp>
        <p:nvSpPr>
          <p:cNvPr id="23" name="Text 21"/>
          <p:cNvSpPr/>
          <p:nvPr/>
        </p:nvSpPr>
        <p:spPr>
          <a:xfrm>
            <a:off x="11228832" y="2587752"/>
            <a:ext cx="585216" cy="58521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24" name="Text 22"/>
          <p:cNvSpPr/>
          <p:nvPr/>
        </p:nvSpPr>
        <p:spPr>
          <a:xfrm>
            <a:off x="10881360" y="3337560"/>
            <a:ext cx="1280160" cy="365760"/>
          </a:xfrm>
          <a:prstGeom prst="rect">
            <a:avLst/>
          </a:prstGeom>
          <a:noFill/>
          <a:ln/>
        </p:spPr>
        <p:txBody>
          <a:bodyPr wrap="square" rtlCol="0" anchor="ctr"/>
          <a:lstStyle/>
          <a:p>
            <a:pPr marL="0" indent="0" algn="ctr">
              <a:buNone/>
            </a:pPr>
            <a:r>
              <a:rPr lang="en-US" sz="2000" b="1" dirty="0">
                <a:solidFill>
                  <a:srgbClr val="1B2B2E"/>
                </a:solidFill>
                <a:latin typeface="Times New Roman" panose="02020603050405020304" pitchFamily="18" charset="0"/>
                <a:ea typeface="Calibri" pitchFamily="34" charset="-122"/>
                <a:cs typeface="Times New Roman" panose="02020603050405020304" pitchFamily="18" charset="0"/>
              </a:rPr>
              <a:t>Monitor</a:t>
            </a:r>
            <a:endParaRPr lang="en-US" sz="2000" dirty="0">
              <a:latin typeface="Times New Roman" panose="02020603050405020304" pitchFamily="18" charset="0"/>
              <a:cs typeface="Times New Roman" panose="02020603050405020304" pitchFamily="18" charset="0"/>
            </a:endParaRPr>
          </a:p>
        </p:txBody>
      </p:sp>
      <p:sp>
        <p:nvSpPr>
          <p:cNvPr id="25" name="Shape 23"/>
          <p:cNvSpPr/>
          <p:nvPr/>
        </p:nvSpPr>
        <p:spPr>
          <a:xfrm>
            <a:off x="822960" y="4279392"/>
            <a:ext cx="128016" cy="128016"/>
          </a:xfrm>
          <a:prstGeom prst="ellipse">
            <a:avLst/>
          </a:prstGeom>
          <a:solidFill>
            <a:srgbClr val="02C39A"/>
          </a:solidFill>
          <a:ln/>
        </p:spPr>
      </p:sp>
      <p:sp>
        <p:nvSpPr>
          <p:cNvPr id="26" name="Text 24"/>
          <p:cNvSpPr/>
          <p:nvPr/>
        </p:nvSpPr>
        <p:spPr>
          <a:xfrm>
            <a:off x="1143000" y="4206240"/>
            <a:ext cx="9875520" cy="457200"/>
          </a:xfrm>
          <a:prstGeom prst="rect">
            <a:avLst/>
          </a:prstGeom>
          <a:noFill/>
          <a:ln/>
        </p:spPr>
        <p:txBody>
          <a:bodyPr wrap="square" rtlCol="0" anchor="t"/>
          <a:lstStyle/>
          <a:p>
            <a:pPr marL="0" indent="0">
              <a:buNone/>
            </a:pP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Security is included in every stage.</a:t>
            </a:r>
            <a:endParaRPr lang="en-US" sz="2000" dirty="0">
              <a:latin typeface="Times New Roman" panose="02020603050405020304" pitchFamily="18" charset="0"/>
              <a:cs typeface="Times New Roman" panose="02020603050405020304" pitchFamily="18" charset="0"/>
            </a:endParaRPr>
          </a:p>
        </p:txBody>
      </p:sp>
      <p:sp>
        <p:nvSpPr>
          <p:cNvPr id="27" name="Shape 25"/>
          <p:cNvSpPr/>
          <p:nvPr/>
        </p:nvSpPr>
        <p:spPr>
          <a:xfrm>
            <a:off x="822960" y="4846320"/>
            <a:ext cx="128016" cy="128016"/>
          </a:xfrm>
          <a:prstGeom prst="ellipse">
            <a:avLst/>
          </a:prstGeom>
          <a:solidFill>
            <a:srgbClr val="02C39A"/>
          </a:solidFill>
          <a:ln/>
        </p:spPr>
      </p:sp>
      <p:sp>
        <p:nvSpPr>
          <p:cNvPr id="28" name="Text 26"/>
          <p:cNvSpPr/>
          <p:nvPr/>
        </p:nvSpPr>
        <p:spPr>
          <a:xfrm>
            <a:off x="1143000" y="4773168"/>
            <a:ext cx="9875520" cy="457200"/>
          </a:xfrm>
          <a:prstGeom prst="rect">
            <a:avLst/>
          </a:prstGeom>
          <a:noFill/>
          <a:ln/>
        </p:spPr>
        <p:txBody>
          <a:bodyPr wrap="square" rtlCol="0" anchor="t"/>
          <a:lstStyle/>
          <a:p>
            <a:pPr marL="0" indent="0">
              <a:buNone/>
            </a:pP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Developers, security teams, and operations teams work together</a:t>
            </a:r>
            <a:r>
              <a:rPr lang="en-US" sz="1500" dirty="0">
                <a:solidFill>
                  <a:srgbClr val="1B2B2E"/>
                </a:solidFill>
                <a:latin typeface="Calibri" pitchFamily="34" charset="0"/>
                <a:ea typeface="Calibri" pitchFamily="34" charset="-122"/>
                <a:cs typeface="Calibri" pitchFamily="34" charset="-120"/>
              </a:rPr>
              <a:t>.</a:t>
            </a:r>
            <a:endParaRPr lang="en-US" sz="1500" dirty="0"/>
          </a:p>
        </p:txBody>
      </p:sp>
      <p:sp>
        <p:nvSpPr>
          <p:cNvPr id="29" name="Shape 27"/>
          <p:cNvSpPr/>
          <p:nvPr/>
        </p:nvSpPr>
        <p:spPr>
          <a:xfrm>
            <a:off x="822960" y="5413248"/>
            <a:ext cx="128016" cy="128016"/>
          </a:xfrm>
          <a:prstGeom prst="ellipse">
            <a:avLst/>
          </a:prstGeom>
          <a:solidFill>
            <a:srgbClr val="02C39A"/>
          </a:solidFill>
          <a:ln/>
        </p:spPr>
      </p:sp>
      <p:sp>
        <p:nvSpPr>
          <p:cNvPr id="30" name="Text 28"/>
          <p:cNvSpPr/>
          <p:nvPr/>
        </p:nvSpPr>
        <p:spPr>
          <a:xfrm>
            <a:off x="1143000" y="5340096"/>
            <a:ext cx="9875520" cy="457200"/>
          </a:xfrm>
          <a:prstGeom prst="rect">
            <a:avLst/>
          </a:prstGeom>
          <a:noFill/>
          <a:ln/>
        </p:spPr>
        <p:txBody>
          <a:bodyPr wrap="square" rtlCol="0" anchor="t"/>
          <a:lstStyle/>
          <a:p>
            <a:pPr marL="0" indent="0">
              <a:buNone/>
            </a:pP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Problems are identified and fixed early.</a:t>
            </a:r>
            <a:endParaRPr lang="en-US" sz="2000" dirty="0">
              <a:latin typeface="Times New Roman" panose="02020603050405020304" pitchFamily="18" charset="0"/>
              <a:cs typeface="Times New Roman" panose="02020603050405020304" pitchFamily="18" charset="0"/>
            </a:endParaRPr>
          </a:p>
        </p:txBody>
      </p:sp>
      <p:sp>
        <p:nvSpPr>
          <p:cNvPr id="32" name="Text 29"/>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E7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9144000" cy="640080"/>
          </a:xfrm>
          <a:prstGeom prst="rect">
            <a:avLst/>
          </a:prstGeom>
          <a:noFill/>
          <a:ln/>
        </p:spPr>
        <p:txBody>
          <a:bodyPr wrap="square" rtlCol="0" anchor="ctr"/>
          <a:lstStyle/>
          <a:p>
            <a:pPr marL="0" indent="0">
              <a:buNone/>
            </a:pPr>
            <a:r>
              <a:rPr lang="en-US" sz="3200" b="1" dirty="0">
                <a:solidFill>
                  <a:srgbClr val="1B2B2E"/>
                </a:solidFill>
                <a:latin typeface="Cambria" pitchFamily="34" charset="0"/>
                <a:ea typeface="Cambria" pitchFamily="34" charset="-122"/>
                <a:cs typeface="Cambria" pitchFamily="34" charset="-120"/>
              </a:rPr>
              <a:t>Shift-Left Security</a:t>
            </a:r>
            <a:endParaRPr lang="en-US" sz="3200" dirty="0"/>
          </a:p>
        </p:txBody>
      </p:sp>
      <p:sp>
        <p:nvSpPr>
          <p:cNvPr id="3" name="Shape 1"/>
          <p:cNvSpPr/>
          <p:nvPr/>
        </p:nvSpPr>
        <p:spPr>
          <a:xfrm>
            <a:off x="640080" y="1664208"/>
            <a:ext cx="128016" cy="128016"/>
          </a:xfrm>
          <a:prstGeom prst="ellipse">
            <a:avLst/>
          </a:prstGeom>
          <a:solidFill>
            <a:srgbClr val="02C39A"/>
          </a:solidFill>
          <a:ln/>
        </p:spPr>
      </p:sp>
      <p:sp>
        <p:nvSpPr>
          <p:cNvPr id="4" name="Text 2"/>
          <p:cNvSpPr/>
          <p:nvPr/>
        </p:nvSpPr>
        <p:spPr>
          <a:xfrm>
            <a:off x="960120" y="1600200"/>
            <a:ext cx="6035040" cy="548640"/>
          </a:xfrm>
          <a:prstGeom prst="rect">
            <a:avLst/>
          </a:prstGeom>
          <a:noFill/>
          <a:ln/>
        </p:spPr>
        <p:txBody>
          <a:bodyPr wrap="square" rtlCol="0" anchor="t"/>
          <a:lstStyle/>
          <a:p>
            <a:pPr marL="0" indent="0">
              <a:buNone/>
            </a:pP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Security testing starts early in development</a:t>
            </a:r>
            <a:r>
              <a:rPr lang="en-US" sz="1500" dirty="0">
                <a:solidFill>
                  <a:srgbClr val="1B2B2E"/>
                </a:solidFill>
                <a:latin typeface="Calibri" pitchFamily="34" charset="0"/>
                <a:ea typeface="Calibri" pitchFamily="34" charset="-122"/>
                <a:cs typeface="Calibri" pitchFamily="34" charset="-120"/>
              </a:rPr>
              <a:t>.</a:t>
            </a:r>
            <a:endParaRPr lang="en-US" sz="1500" dirty="0"/>
          </a:p>
        </p:txBody>
      </p:sp>
      <p:sp>
        <p:nvSpPr>
          <p:cNvPr id="5" name="Shape 3"/>
          <p:cNvSpPr/>
          <p:nvPr/>
        </p:nvSpPr>
        <p:spPr>
          <a:xfrm>
            <a:off x="640080" y="2350008"/>
            <a:ext cx="128016" cy="128016"/>
          </a:xfrm>
          <a:prstGeom prst="ellipse">
            <a:avLst/>
          </a:prstGeom>
          <a:solidFill>
            <a:srgbClr val="02C39A"/>
          </a:solidFill>
          <a:ln/>
        </p:spPr>
      </p:sp>
      <p:sp>
        <p:nvSpPr>
          <p:cNvPr id="6" name="Text 4"/>
          <p:cNvSpPr/>
          <p:nvPr/>
        </p:nvSpPr>
        <p:spPr>
          <a:xfrm>
            <a:off x="960120" y="2286000"/>
            <a:ext cx="6035040" cy="548640"/>
          </a:xfrm>
          <a:prstGeom prst="rect">
            <a:avLst/>
          </a:prstGeom>
          <a:noFill/>
          <a:ln/>
        </p:spPr>
        <p:txBody>
          <a:bodyPr wrap="square" rtlCol="0" anchor="t"/>
          <a:lstStyle/>
          <a:p>
            <a:pPr marL="0" indent="0">
              <a:buNone/>
            </a:pP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Vulnerabilities are detected during coding.</a:t>
            </a:r>
            <a:endParaRPr lang="en-US" sz="2000" dirty="0">
              <a:latin typeface="Times New Roman" panose="02020603050405020304" pitchFamily="18" charset="0"/>
              <a:cs typeface="Times New Roman" panose="02020603050405020304" pitchFamily="18" charset="0"/>
            </a:endParaRPr>
          </a:p>
        </p:txBody>
      </p:sp>
      <p:sp>
        <p:nvSpPr>
          <p:cNvPr id="7" name="Shape 5"/>
          <p:cNvSpPr/>
          <p:nvPr/>
        </p:nvSpPr>
        <p:spPr>
          <a:xfrm>
            <a:off x="640080" y="3035808"/>
            <a:ext cx="128016" cy="128016"/>
          </a:xfrm>
          <a:prstGeom prst="ellipse">
            <a:avLst/>
          </a:prstGeom>
          <a:solidFill>
            <a:srgbClr val="02C39A"/>
          </a:solidFill>
          <a:ln/>
        </p:spPr>
      </p:sp>
      <p:sp>
        <p:nvSpPr>
          <p:cNvPr id="8" name="Text 6"/>
          <p:cNvSpPr/>
          <p:nvPr/>
        </p:nvSpPr>
        <p:spPr>
          <a:xfrm>
            <a:off x="960120" y="2971800"/>
            <a:ext cx="6035040" cy="548640"/>
          </a:xfrm>
          <a:prstGeom prst="rect">
            <a:avLst/>
          </a:prstGeom>
          <a:noFill/>
          <a:ln/>
        </p:spPr>
        <p:txBody>
          <a:bodyPr wrap="square" rtlCol="0" anchor="t"/>
          <a:lstStyle/>
          <a:p>
            <a:pPr marL="0" indent="0">
              <a:buNone/>
            </a:pP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Developers can fix problems before deployment.</a:t>
            </a:r>
            <a:endParaRPr lang="en-US" sz="2000" dirty="0">
              <a:latin typeface="Times New Roman" panose="02020603050405020304" pitchFamily="18" charset="0"/>
              <a:cs typeface="Times New Roman" panose="02020603050405020304" pitchFamily="18" charset="0"/>
            </a:endParaRPr>
          </a:p>
        </p:txBody>
      </p:sp>
      <p:sp>
        <p:nvSpPr>
          <p:cNvPr id="9" name="Shape 7"/>
          <p:cNvSpPr/>
          <p:nvPr/>
        </p:nvSpPr>
        <p:spPr>
          <a:xfrm>
            <a:off x="640080" y="3721608"/>
            <a:ext cx="128016" cy="128016"/>
          </a:xfrm>
          <a:prstGeom prst="ellipse">
            <a:avLst/>
          </a:prstGeom>
          <a:solidFill>
            <a:srgbClr val="02C39A"/>
          </a:solidFill>
          <a:ln/>
        </p:spPr>
      </p:sp>
      <p:sp>
        <p:nvSpPr>
          <p:cNvPr id="10" name="Text 8"/>
          <p:cNvSpPr/>
          <p:nvPr/>
        </p:nvSpPr>
        <p:spPr>
          <a:xfrm>
            <a:off x="960120" y="3657600"/>
            <a:ext cx="6035040" cy="548640"/>
          </a:xfrm>
          <a:prstGeom prst="rect">
            <a:avLst/>
          </a:prstGeom>
          <a:noFill/>
          <a:ln/>
        </p:spPr>
        <p:txBody>
          <a:bodyPr wrap="square" rtlCol="0" anchor="t"/>
          <a:lstStyle/>
          <a:p>
            <a:pPr marL="0" indent="0">
              <a:buNone/>
            </a:pP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Reduces cost and improves software security.</a:t>
            </a:r>
            <a:endParaRPr lang="en-US" sz="2000" dirty="0">
              <a:latin typeface="Times New Roman" panose="02020603050405020304" pitchFamily="18" charset="0"/>
              <a:cs typeface="Times New Roman" panose="02020603050405020304" pitchFamily="18" charset="0"/>
            </a:endParaRPr>
          </a:p>
        </p:txBody>
      </p:sp>
      <p:sp>
        <p:nvSpPr>
          <p:cNvPr id="11" name="Shape 9"/>
          <p:cNvSpPr/>
          <p:nvPr/>
        </p:nvSpPr>
        <p:spPr>
          <a:xfrm>
            <a:off x="7315200" y="1792224"/>
            <a:ext cx="4251960" cy="3200400"/>
          </a:xfrm>
          <a:prstGeom prst="roundRect">
            <a:avLst>
              <a:gd name="adj" fmla="val 3429"/>
            </a:avLst>
          </a:prstGeom>
          <a:solidFill>
            <a:srgbClr val="F1F7F7"/>
          </a:solidFill>
          <a:ln/>
        </p:spPr>
      </p:sp>
      <p:sp>
        <p:nvSpPr>
          <p:cNvPr id="12" name="Text 10"/>
          <p:cNvSpPr/>
          <p:nvPr/>
        </p:nvSpPr>
        <p:spPr>
          <a:xfrm>
            <a:off x="7589520" y="1920240"/>
            <a:ext cx="3657600" cy="27432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SIMPLE IDEA</a:t>
            </a:r>
            <a:endParaRPr lang="en-US" sz="1100" dirty="0"/>
          </a:p>
        </p:txBody>
      </p:sp>
      <p:sp>
        <p:nvSpPr>
          <p:cNvPr id="13" name="Shape 11"/>
          <p:cNvSpPr/>
          <p:nvPr/>
        </p:nvSpPr>
        <p:spPr>
          <a:xfrm>
            <a:off x="7589520" y="2331720"/>
            <a:ext cx="3703320" cy="640080"/>
          </a:xfrm>
          <a:prstGeom prst="roundRect">
            <a:avLst>
              <a:gd name="adj" fmla="val 14286"/>
            </a:avLst>
          </a:prstGeom>
          <a:solidFill>
            <a:srgbClr val="028090"/>
          </a:solidFill>
          <a:ln/>
        </p:spPr>
      </p:sp>
      <p:sp>
        <p:nvSpPr>
          <p:cNvPr id="14" name="Text 12"/>
          <p:cNvSpPr/>
          <p:nvPr/>
        </p:nvSpPr>
        <p:spPr>
          <a:xfrm>
            <a:off x="7589520" y="2331720"/>
            <a:ext cx="3703320" cy="64008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Find problems early</a:t>
            </a:r>
            <a:endParaRPr lang="en-US" sz="1350" dirty="0"/>
          </a:p>
        </p:txBody>
      </p:sp>
      <p:sp>
        <p:nvSpPr>
          <p:cNvPr id="15" name="Text 13"/>
          <p:cNvSpPr/>
          <p:nvPr/>
        </p:nvSpPr>
        <p:spPr>
          <a:xfrm>
            <a:off x="7589520" y="2971800"/>
            <a:ext cx="3703320" cy="320040"/>
          </a:xfrm>
          <a:prstGeom prst="rect">
            <a:avLst/>
          </a:prstGeom>
          <a:noFill/>
          <a:ln/>
        </p:spPr>
        <p:txBody>
          <a:bodyPr wrap="square" rtlCol="0" anchor="ctr"/>
          <a:lstStyle/>
          <a:p>
            <a:pPr marL="0" indent="0" algn="ctr">
              <a:buNone/>
            </a:pPr>
            <a:r>
              <a:rPr lang="en-US" sz="1800" b="1" dirty="0">
                <a:solidFill>
                  <a:srgbClr val="028090"/>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7589520" y="3291840"/>
            <a:ext cx="3703320" cy="640080"/>
          </a:xfrm>
          <a:prstGeom prst="roundRect">
            <a:avLst>
              <a:gd name="adj" fmla="val 14286"/>
            </a:avLst>
          </a:prstGeom>
          <a:solidFill>
            <a:srgbClr val="028090"/>
          </a:solidFill>
          <a:ln/>
        </p:spPr>
      </p:sp>
      <p:sp>
        <p:nvSpPr>
          <p:cNvPr id="17" name="Text 15"/>
          <p:cNvSpPr/>
          <p:nvPr/>
        </p:nvSpPr>
        <p:spPr>
          <a:xfrm>
            <a:off x="7589520" y="3291840"/>
            <a:ext cx="3703320" cy="64008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Fix them early</a:t>
            </a:r>
            <a:endParaRPr lang="en-US" sz="1350" dirty="0"/>
          </a:p>
        </p:txBody>
      </p:sp>
      <p:sp>
        <p:nvSpPr>
          <p:cNvPr id="18" name="Text 16"/>
          <p:cNvSpPr/>
          <p:nvPr/>
        </p:nvSpPr>
        <p:spPr>
          <a:xfrm>
            <a:off x="7589520" y="3931920"/>
            <a:ext cx="3703320" cy="320040"/>
          </a:xfrm>
          <a:prstGeom prst="rect">
            <a:avLst/>
          </a:prstGeom>
          <a:noFill/>
          <a:ln/>
        </p:spPr>
        <p:txBody>
          <a:bodyPr wrap="square" rtlCol="0" anchor="ctr"/>
          <a:lstStyle/>
          <a:p>
            <a:pPr marL="0" indent="0" algn="ctr">
              <a:buNone/>
            </a:pPr>
            <a:r>
              <a:rPr lang="en-US" sz="1800" b="1" dirty="0">
                <a:solidFill>
                  <a:srgbClr val="028090"/>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7589520" y="4251960"/>
            <a:ext cx="3703320" cy="640080"/>
          </a:xfrm>
          <a:prstGeom prst="roundRect">
            <a:avLst>
              <a:gd name="adj" fmla="val 14286"/>
            </a:avLst>
          </a:prstGeom>
          <a:solidFill>
            <a:srgbClr val="02C39A"/>
          </a:solidFill>
          <a:ln/>
        </p:spPr>
      </p:sp>
      <p:sp>
        <p:nvSpPr>
          <p:cNvPr id="20" name="Text 18"/>
          <p:cNvSpPr/>
          <p:nvPr/>
        </p:nvSpPr>
        <p:spPr>
          <a:xfrm>
            <a:off x="7589520" y="4251960"/>
            <a:ext cx="3703320" cy="64008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Release secure software</a:t>
            </a:r>
            <a:endParaRPr lang="en-US" sz="1350" dirty="0"/>
          </a:p>
        </p:txBody>
      </p:sp>
      <p:sp>
        <p:nvSpPr>
          <p:cNvPr id="22" name="Text 19"/>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E7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640080"/>
          </a:xfrm>
          <a:prstGeom prst="rect">
            <a:avLst/>
          </a:prstGeom>
          <a:noFill/>
          <a:ln/>
        </p:spPr>
        <p:txBody>
          <a:bodyPr wrap="square" rtlCol="0" anchor="ctr"/>
          <a:lstStyle/>
          <a:p>
            <a:pPr marL="0" indent="0">
              <a:buNone/>
            </a:pPr>
            <a:r>
              <a:rPr lang="en-US" sz="3200" b="1" dirty="0">
                <a:solidFill>
                  <a:srgbClr val="1B2B2E"/>
                </a:solidFill>
                <a:latin typeface="Cambria" pitchFamily="34" charset="0"/>
                <a:ea typeface="Cambria" pitchFamily="34" charset="-122"/>
                <a:cs typeface="Cambria" pitchFamily="34" charset="-120"/>
              </a:rPr>
              <a:t>Security Tools in DevSecOps</a:t>
            </a:r>
            <a:endParaRPr lang="en-US" sz="3200" dirty="0"/>
          </a:p>
        </p:txBody>
      </p:sp>
      <p:sp>
        <p:nvSpPr>
          <p:cNvPr id="3" name="Shape 1"/>
          <p:cNvSpPr/>
          <p:nvPr/>
        </p:nvSpPr>
        <p:spPr>
          <a:xfrm>
            <a:off x="640080" y="1600200"/>
            <a:ext cx="3520440" cy="1920240"/>
          </a:xfrm>
          <a:prstGeom prst="roundRect">
            <a:avLst>
              <a:gd name="adj" fmla="val 4762"/>
            </a:avLst>
          </a:prstGeom>
          <a:solidFill>
            <a:srgbClr val="F1F7F7"/>
          </a:solidFill>
          <a:ln/>
        </p:spPr>
      </p:sp>
      <p:sp>
        <p:nvSpPr>
          <p:cNvPr id="4" name="Shape 2"/>
          <p:cNvSpPr/>
          <p:nvPr/>
        </p:nvSpPr>
        <p:spPr>
          <a:xfrm>
            <a:off x="868680" y="1828800"/>
            <a:ext cx="548640" cy="548640"/>
          </a:xfrm>
          <a:prstGeom prst="ellipse">
            <a:avLst/>
          </a:prstGeom>
          <a:solidFill>
            <a:srgbClr val="028090"/>
          </a:solidFill>
          <a:ln/>
        </p:spPr>
      </p:sp>
      <p:sp>
        <p:nvSpPr>
          <p:cNvPr id="5" name="Text 3"/>
          <p:cNvSpPr/>
          <p:nvPr/>
        </p:nvSpPr>
        <p:spPr>
          <a:xfrm>
            <a:off x="868680" y="1828800"/>
            <a:ext cx="54864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SA</a:t>
            </a:r>
            <a:endParaRPr lang="en-US" sz="1300" dirty="0"/>
          </a:p>
        </p:txBody>
      </p:sp>
      <p:sp>
        <p:nvSpPr>
          <p:cNvPr id="6" name="Text 4"/>
          <p:cNvSpPr/>
          <p:nvPr/>
        </p:nvSpPr>
        <p:spPr>
          <a:xfrm>
            <a:off x="1554480" y="1801368"/>
            <a:ext cx="2423160" cy="365760"/>
          </a:xfrm>
          <a:prstGeom prst="rect">
            <a:avLst/>
          </a:prstGeom>
          <a:noFill/>
          <a:ln/>
        </p:spPr>
        <p:txBody>
          <a:bodyPr wrap="square" rtlCol="0" anchor="ctr"/>
          <a:lstStyle/>
          <a:p>
            <a:pPr marL="0" indent="0">
              <a:buNone/>
            </a:pPr>
            <a:r>
              <a:rPr lang="en-US" sz="1600" b="1" dirty="0">
                <a:solidFill>
                  <a:srgbClr val="1B2B2E"/>
                </a:solidFill>
                <a:latin typeface="Calibri" pitchFamily="34" charset="0"/>
                <a:ea typeface="Calibri" pitchFamily="34" charset="-122"/>
                <a:cs typeface="Calibri" pitchFamily="34" charset="-120"/>
              </a:rPr>
              <a:t>SAST</a:t>
            </a:r>
            <a:endParaRPr lang="en-US" sz="1600" dirty="0"/>
          </a:p>
        </p:txBody>
      </p:sp>
      <p:sp>
        <p:nvSpPr>
          <p:cNvPr id="7" name="Text 5"/>
          <p:cNvSpPr/>
          <p:nvPr/>
        </p:nvSpPr>
        <p:spPr>
          <a:xfrm>
            <a:off x="868680" y="2514600"/>
            <a:ext cx="3063240" cy="868680"/>
          </a:xfrm>
          <a:prstGeom prst="rect">
            <a:avLst/>
          </a:prstGeom>
          <a:noFill/>
          <a:ln/>
        </p:spPr>
        <p:txBody>
          <a:bodyPr wrap="square" rtlCol="0" anchor="t"/>
          <a:lstStyle/>
          <a:p>
            <a:pPr marL="0" indent="0">
              <a:lnSpc>
                <a:spcPct val="115000"/>
              </a:lnSpc>
              <a:buNone/>
            </a:pPr>
            <a:r>
              <a:rPr lang="en-US" sz="1250" dirty="0">
                <a:solidFill>
                  <a:srgbClr val="5B6E70"/>
                </a:solidFill>
                <a:latin typeface="Calibri" pitchFamily="34" charset="0"/>
                <a:ea typeface="Calibri" pitchFamily="34" charset="-122"/>
                <a:cs typeface="Calibri" pitchFamily="34" charset="-120"/>
              </a:rPr>
              <a:t>Finds security issues in source code.</a:t>
            </a:r>
            <a:endParaRPr lang="en-US" sz="1250" dirty="0"/>
          </a:p>
        </p:txBody>
      </p:sp>
      <p:sp>
        <p:nvSpPr>
          <p:cNvPr id="8" name="Shape 6"/>
          <p:cNvSpPr/>
          <p:nvPr/>
        </p:nvSpPr>
        <p:spPr>
          <a:xfrm>
            <a:off x="4389120" y="1600200"/>
            <a:ext cx="3520440" cy="1920240"/>
          </a:xfrm>
          <a:prstGeom prst="roundRect">
            <a:avLst>
              <a:gd name="adj" fmla="val 4762"/>
            </a:avLst>
          </a:prstGeom>
          <a:solidFill>
            <a:srgbClr val="F1F7F7"/>
          </a:solidFill>
          <a:ln/>
        </p:spPr>
      </p:sp>
      <p:sp>
        <p:nvSpPr>
          <p:cNvPr id="9" name="Shape 7"/>
          <p:cNvSpPr/>
          <p:nvPr/>
        </p:nvSpPr>
        <p:spPr>
          <a:xfrm>
            <a:off x="4617720" y="1828800"/>
            <a:ext cx="548640" cy="548640"/>
          </a:xfrm>
          <a:prstGeom prst="ellipse">
            <a:avLst/>
          </a:prstGeom>
          <a:solidFill>
            <a:srgbClr val="028090"/>
          </a:solidFill>
          <a:ln/>
        </p:spPr>
      </p:sp>
      <p:sp>
        <p:nvSpPr>
          <p:cNvPr id="10" name="Text 8"/>
          <p:cNvSpPr/>
          <p:nvPr/>
        </p:nvSpPr>
        <p:spPr>
          <a:xfrm>
            <a:off x="4617720" y="1828800"/>
            <a:ext cx="54864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a:t>
            </a:r>
            <a:endParaRPr lang="en-US" sz="1300" dirty="0"/>
          </a:p>
        </p:txBody>
      </p:sp>
      <p:sp>
        <p:nvSpPr>
          <p:cNvPr id="11" name="Text 9"/>
          <p:cNvSpPr/>
          <p:nvPr/>
        </p:nvSpPr>
        <p:spPr>
          <a:xfrm>
            <a:off x="5303520" y="1801368"/>
            <a:ext cx="2423160" cy="365760"/>
          </a:xfrm>
          <a:prstGeom prst="rect">
            <a:avLst/>
          </a:prstGeom>
          <a:noFill/>
          <a:ln/>
        </p:spPr>
        <p:txBody>
          <a:bodyPr wrap="square" rtlCol="0" anchor="ctr"/>
          <a:lstStyle/>
          <a:p>
            <a:pPr marL="0" indent="0">
              <a:buNone/>
            </a:pPr>
            <a:r>
              <a:rPr lang="en-US" sz="1600" b="1" dirty="0">
                <a:solidFill>
                  <a:srgbClr val="1B2B2E"/>
                </a:solidFill>
                <a:latin typeface="Calibri" pitchFamily="34" charset="0"/>
                <a:ea typeface="Calibri" pitchFamily="34" charset="-122"/>
                <a:cs typeface="Calibri" pitchFamily="34" charset="-120"/>
              </a:rPr>
              <a:t>DAST</a:t>
            </a:r>
            <a:endParaRPr lang="en-US" sz="1600" dirty="0"/>
          </a:p>
        </p:txBody>
      </p:sp>
      <p:sp>
        <p:nvSpPr>
          <p:cNvPr id="12" name="Text 10"/>
          <p:cNvSpPr/>
          <p:nvPr/>
        </p:nvSpPr>
        <p:spPr>
          <a:xfrm>
            <a:off x="4617720" y="2514600"/>
            <a:ext cx="3063240" cy="868680"/>
          </a:xfrm>
          <a:prstGeom prst="rect">
            <a:avLst/>
          </a:prstGeom>
          <a:noFill/>
          <a:ln/>
        </p:spPr>
        <p:txBody>
          <a:bodyPr wrap="square" rtlCol="0" anchor="t"/>
          <a:lstStyle/>
          <a:p>
            <a:pPr marL="0" indent="0">
              <a:lnSpc>
                <a:spcPct val="115000"/>
              </a:lnSpc>
              <a:buNone/>
            </a:pPr>
            <a:r>
              <a:rPr lang="en-US" sz="1250" dirty="0">
                <a:solidFill>
                  <a:srgbClr val="5B6E70"/>
                </a:solidFill>
                <a:latin typeface="Calibri" pitchFamily="34" charset="0"/>
                <a:ea typeface="Calibri" pitchFamily="34" charset="-122"/>
                <a:cs typeface="Calibri" pitchFamily="34" charset="-120"/>
              </a:rPr>
              <a:t>Tests running applications.</a:t>
            </a:r>
            <a:endParaRPr lang="en-US" sz="1250" dirty="0"/>
          </a:p>
        </p:txBody>
      </p:sp>
      <p:sp>
        <p:nvSpPr>
          <p:cNvPr id="13" name="Shape 11"/>
          <p:cNvSpPr/>
          <p:nvPr/>
        </p:nvSpPr>
        <p:spPr>
          <a:xfrm>
            <a:off x="8138160" y="1600200"/>
            <a:ext cx="3520440" cy="1920240"/>
          </a:xfrm>
          <a:prstGeom prst="roundRect">
            <a:avLst>
              <a:gd name="adj" fmla="val 4762"/>
            </a:avLst>
          </a:prstGeom>
          <a:solidFill>
            <a:srgbClr val="F1F7F7"/>
          </a:solidFill>
          <a:ln/>
        </p:spPr>
      </p:sp>
      <p:sp>
        <p:nvSpPr>
          <p:cNvPr id="14" name="Shape 12"/>
          <p:cNvSpPr/>
          <p:nvPr/>
        </p:nvSpPr>
        <p:spPr>
          <a:xfrm>
            <a:off x="8366760" y="1828800"/>
            <a:ext cx="548640" cy="548640"/>
          </a:xfrm>
          <a:prstGeom prst="ellipse">
            <a:avLst/>
          </a:prstGeom>
          <a:solidFill>
            <a:srgbClr val="028090"/>
          </a:solidFill>
          <a:ln/>
        </p:spPr>
      </p:sp>
      <p:sp>
        <p:nvSpPr>
          <p:cNvPr id="15" name="Text 13"/>
          <p:cNvSpPr/>
          <p:nvPr/>
        </p:nvSpPr>
        <p:spPr>
          <a:xfrm>
            <a:off x="8366760" y="1828800"/>
            <a:ext cx="54864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SC</a:t>
            </a:r>
            <a:endParaRPr lang="en-US" sz="1300" dirty="0"/>
          </a:p>
        </p:txBody>
      </p:sp>
      <p:sp>
        <p:nvSpPr>
          <p:cNvPr id="16" name="Text 14"/>
          <p:cNvSpPr/>
          <p:nvPr/>
        </p:nvSpPr>
        <p:spPr>
          <a:xfrm>
            <a:off x="9052560" y="1801368"/>
            <a:ext cx="2423160" cy="365760"/>
          </a:xfrm>
          <a:prstGeom prst="rect">
            <a:avLst/>
          </a:prstGeom>
          <a:noFill/>
          <a:ln/>
        </p:spPr>
        <p:txBody>
          <a:bodyPr wrap="square" rtlCol="0" anchor="ctr"/>
          <a:lstStyle/>
          <a:p>
            <a:pPr marL="0" indent="0">
              <a:buNone/>
            </a:pPr>
            <a:r>
              <a:rPr lang="en-US" sz="1600" b="1" dirty="0">
                <a:solidFill>
                  <a:srgbClr val="1B2B2E"/>
                </a:solidFill>
                <a:latin typeface="Calibri" pitchFamily="34" charset="0"/>
                <a:ea typeface="Calibri" pitchFamily="34" charset="-122"/>
                <a:cs typeface="Calibri" pitchFamily="34" charset="-120"/>
              </a:rPr>
              <a:t>SCA</a:t>
            </a:r>
            <a:endParaRPr lang="en-US" sz="1600" dirty="0"/>
          </a:p>
        </p:txBody>
      </p:sp>
      <p:sp>
        <p:nvSpPr>
          <p:cNvPr id="17" name="Text 15"/>
          <p:cNvSpPr/>
          <p:nvPr/>
        </p:nvSpPr>
        <p:spPr>
          <a:xfrm>
            <a:off x="8366760" y="2514600"/>
            <a:ext cx="3063240" cy="868680"/>
          </a:xfrm>
          <a:prstGeom prst="rect">
            <a:avLst/>
          </a:prstGeom>
          <a:noFill/>
          <a:ln/>
        </p:spPr>
        <p:txBody>
          <a:bodyPr wrap="square" rtlCol="0" anchor="t"/>
          <a:lstStyle/>
          <a:p>
            <a:pPr marL="0" indent="0">
              <a:lnSpc>
                <a:spcPct val="115000"/>
              </a:lnSpc>
              <a:buNone/>
            </a:pPr>
            <a:r>
              <a:rPr lang="en-US" sz="1250" dirty="0">
                <a:solidFill>
                  <a:srgbClr val="5B6E70"/>
                </a:solidFill>
                <a:latin typeface="Calibri" pitchFamily="34" charset="0"/>
                <a:ea typeface="Calibri" pitchFamily="34" charset="-122"/>
                <a:cs typeface="Calibri" pitchFamily="34" charset="-120"/>
              </a:rPr>
              <a:t>Checks third-party libraries and dependencies.</a:t>
            </a:r>
            <a:endParaRPr lang="en-US" sz="1250" dirty="0"/>
          </a:p>
        </p:txBody>
      </p:sp>
      <p:sp>
        <p:nvSpPr>
          <p:cNvPr id="18" name="Shape 16"/>
          <p:cNvSpPr/>
          <p:nvPr/>
        </p:nvSpPr>
        <p:spPr>
          <a:xfrm>
            <a:off x="640080" y="3794760"/>
            <a:ext cx="3520440" cy="1920240"/>
          </a:xfrm>
          <a:prstGeom prst="roundRect">
            <a:avLst>
              <a:gd name="adj" fmla="val 4762"/>
            </a:avLst>
          </a:prstGeom>
          <a:solidFill>
            <a:srgbClr val="F1F7F7"/>
          </a:solidFill>
          <a:ln/>
        </p:spPr>
      </p:sp>
      <p:sp>
        <p:nvSpPr>
          <p:cNvPr id="19" name="Shape 17"/>
          <p:cNvSpPr/>
          <p:nvPr/>
        </p:nvSpPr>
        <p:spPr>
          <a:xfrm>
            <a:off x="868680" y="4023360"/>
            <a:ext cx="548640" cy="548640"/>
          </a:xfrm>
          <a:prstGeom prst="ellipse">
            <a:avLst/>
          </a:prstGeom>
          <a:solidFill>
            <a:srgbClr val="028090"/>
          </a:solidFill>
          <a:ln/>
        </p:spPr>
      </p:sp>
      <p:sp>
        <p:nvSpPr>
          <p:cNvPr id="20" name="Text 18"/>
          <p:cNvSpPr/>
          <p:nvPr/>
        </p:nvSpPr>
        <p:spPr>
          <a:xfrm>
            <a:off x="868680" y="4023360"/>
            <a:ext cx="54864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CS</a:t>
            </a:r>
            <a:endParaRPr lang="en-US" sz="1300" dirty="0"/>
          </a:p>
        </p:txBody>
      </p:sp>
      <p:sp>
        <p:nvSpPr>
          <p:cNvPr id="21" name="Text 19"/>
          <p:cNvSpPr/>
          <p:nvPr/>
        </p:nvSpPr>
        <p:spPr>
          <a:xfrm>
            <a:off x="1554480" y="3995928"/>
            <a:ext cx="2423160" cy="365760"/>
          </a:xfrm>
          <a:prstGeom prst="rect">
            <a:avLst/>
          </a:prstGeom>
          <a:noFill/>
          <a:ln/>
        </p:spPr>
        <p:txBody>
          <a:bodyPr wrap="square" rtlCol="0" anchor="ctr"/>
          <a:lstStyle/>
          <a:p>
            <a:pPr marL="0" indent="0">
              <a:buNone/>
            </a:pPr>
            <a:r>
              <a:rPr lang="en-US" sz="1600" b="1" dirty="0">
                <a:solidFill>
                  <a:srgbClr val="1B2B2E"/>
                </a:solidFill>
                <a:latin typeface="Calibri" pitchFamily="34" charset="0"/>
                <a:ea typeface="Calibri" pitchFamily="34" charset="-122"/>
                <a:cs typeface="Calibri" pitchFamily="34" charset="-120"/>
              </a:rPr>
              <a:t>Container Security</a:t>
            </a:r>
            <a:endParaRPr lang="en-US" sz="1600" dirty="0"/>
          </a:p>
        </p:txBody>
      </p:sp>
      <p:sp>
        <p:nvSpPr>
          <p:cNvPr id="22" name="Text 20"/>
          <p:cNvSpPr/>
          <p:nvPr/>
        </p:nvSpPr>
        <p:spPr>
          <a:xfrm>
            <a:off x="868680" y="4709160"/>
            <a:ext cx="3063240" cy="868680"/>
          </a:xfrm>
          <a:prstGeom prst="rect">
            <a:avLst/>
          </a:prstGeom>
          <a:noFill/>
          <a:ln/>
        </p:spPr>
        <p:txBody>
          <a:bodyPr wrap="square" rtlCol="0" anchor="t"/>
          <a:lstStyle/>
          <a:p>
            <a:pPr marL="0" indent="0">
              <a:lnSpc>
                <a:spcPct val="115000"/>
              </a:lnSpc>
              <a:buNone/>
            </a:pPr>
            <a:r>
              <a:rPr lang="en-US" sz="1250" dirty="0">
                <a:solidFill>
                  <a:srgbClr val="5B6E70"/>
                </a:solidFill>
                <a:latin typeface="Calibri" pitchFamily="34" charset="0"/>
                <a:ea typeface="Calibri" pitchFamily="34" charset="-122"/>
                <a:cs typeface="Calibri" pitchFamily="34" charset="-120"/>
              </a:rPr>
              <a:t>Scans containers for vulnerabilities.</a:t>
            </a:r>
            <a:endParaRPr lang="en-US" sz="1250" dirty="0"/>
          </a:p>
        </p:txBody>
      </p:sp>
      <p:sp>
        <p:nvSpPr>
          <p:cNvPr id="23" name="Shape 21"/>
          <p:cNvSpPr/>
          <p:nvPr/>
        </p:nvSpPr>
        <p:spPr>
          <a:xfrm>
            <a:off x="4389120" y="3794760"/>
            <a:ext cx="3520440" cy="1920240"/>
          </a:xfrm>
          <a:prstGeom prst="roundRect">
            <a:avLst>
              <a:gd name="adj" fmla="val 4762"/>
            </a:avLst>
          </a:prstGeom>
          <a:solidFill>
            <a:srgbClr val="F1F7F7"/>
          </a:solidFill>
          <a:ln/>
        </p:spPr>
      </p:sp>
      <p:sp>
        <p:nvSpPr>
          <p:cNvPr id="24" name="Shape 22"/>
          <p:cNvSpPr/>
          <p:nvPr/>
        </p:nvSpPr>
        <p:spPr>
          <a:xfrm>
            <a:off x="4617720" y="4023360"/>
            <a:ext cx="548640" cy="548640"/>
          </a:xfrm>
          <a:prstGeom prst="ellipse">
            <a:avLst/>
          </a:prstGeom>
          <a:solidFill>
            <a:srgbClr val="028090"/>
          </a:solidFill>
          <a:ln/>
        </p:spPr>
      </p:sp>
      <p:sp>
        <p:nvSpPr>
          <p:cNvPr id="25" name="Text 23"/>
          <p:cNvSpPr/>
          <p:nvPr/>
        </p:nvSpPr>
        <p:spPr>
          <a:xfrm>
            <a:off x="4617720" y="4023360"/>
            <a:ext cx="54864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CM</a:t>
            </a:r>
            <a:endParaRPr lang="en-US" sz="1300" dirty="0"/>
          </a:p>
        </p:txBody>
      </p:sp>
      <p:sp>
        <p:nvSpPr>
          <p:cNvPr id="26" name="Text 24"/>
          <p:cNvSpPr/>
          <p:nvPr/>
        </p:nvSpPr>
        <p:spPr>
          <a:xfrm>
            <a:off x="5303520" y="3995928"/>
            <a:ext cx="2423160" cy="365760"/>
          </a:xfrm>
          <a:prstGeom prst="rect">
            <a:avLst/>
          </a:prstGeom>
          <a:noFill/>
          <a:ln/>
        </p:spPr>
        <p:txBody>
          <a:bodyPr wrap="square" rtlCol="0" anchor="ctr"/>
          <a:lstStyle/>
          <a:p>
            <a:pPr marL="0" indent="0">
              <a:buNone/>
            </a:pPr>
            <a:r>
              <a:rPr lang="en-US" sz="1600" b="1" dirty="0">
                <a:solidFill>
                  <a:srgbClr val="1B2B2E"/>
                </a:solidFill>
                <a:latin typeface="Calibri" pitchFamily="34" charset="0"/>
                <a:ea typeface="Calibri" pitchFamily="34" charset="-122"/>
                <a:cs typeface="Calibri" pitchFamily="34" charset="-120"/>
              </a:rPr>
              <a:t>Continuous Monitoring</a:t>
            </a:r>
            <a:endParaRPr lang="en-US" sz="1600" dirty="0"/>
          </a:p>
        </p:txBody>
      </p:sp>
      <p:sp>
        <p:nvSpPr>
          <p:cNvPr id="27" name="Text 25"/>
          <p:cNvSpPr/>
          <p:nvPr/>
        </p:nvSpPr>
        <p:spPr>
          <a:xfrm>
            <a:off x="4617720" y="4709160"/>
            <a:ext cx="3063240" cy="868680"/>
          </a:xfrm>
          <a:prstGeom prst="rect">
            <a:avLst/>
          </a:prstGeom>
          <a:noFill/>
          <a:ln/>
        </p:spPr>
        <p:txBody>
          <a:bodyPr wrap="square" rtlCol="0" anchor="t"/>
          <a:lstStyle/>
          <a:p>
            <a:pPr marL="0" indent="0">
              <a:lnSpc>
                <a:spcPct val="115000"/>
              </a:lnSpc>
              <a:buNone/>
            </a:pPr>
            <a:r>
              <a:rPr lang="en-US" sz="1250" dirty="0">
                <a:solidFill>
                  <a:srgbClr val="5B6E70"/>
                </a:solidFill>
                <a:latin typeface="Calibri" pitchFamily="34" charset="0"/>
                <a:ea typeface="Calibri" pitchFamily="34" charset="-122"/>
                <a:cs typeface="Calibri" pitchFamily="34" charset="-120"/>
              </a:rPr>
              <a:t>Monitors applications after deployment.</a:t>
            </a:r>
            <a:endParaRPr lang="en-US" sz="1250" dirty="0"/>
          </a:p>
        </p:txBody>
      </p:sp>
      <p:sp>
        <p:nvSpPr>
          <p:cNvPr id="29" name="Text 26"/>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E7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2027"/>
        </a:solidFill>
        <a:effectLst/>
      </p:bgPr>
    </p:bg>
    <p:spTree>
      <p:nvGrpSpPr>
        <p:cNvPr id="1" name=""/>
        <p:cNvGrpSpPr/>
        <p:nvPr/>
      </p:nvGrpSpPr>
      <p:grpSpPr>
        <a:xfrm>
          <a:off x="0" y="0"/>
          <a:ext cx="0" cy="0"/>
          <a:chOff x="0" y="0"/>
          <a:chExt cx="0" cy="0"/>
        </a:xfrm>
      </p:grpSpPr>
      <p:sp>
        <p:nvSpPr>
          <p:cNvPr id="2" name="Text 0"/>
          <p:cNvSpPr/>
          <p:nvPr/>
        </p:nvSpPr>
        <p:spPr>
          <a:xfrm>
            <a:off x="640080" y="457200"/>
            <a:ext cx="91440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Automation in DevSecOps</a:t>
            </a:r>
            <a:endParaRPr lang="en-US" sz="3200" dirty="0"/>
          </a:p>
        </p:txBody>
      </p:sp>
      <p:sp>
        <p:nvSpPr>
          <p:cNvPr id="3" name="Shape 1"/>
          <p:cNvSpPr/>
          <p:nvPr/>
        </p:nvSpPr>
        <p:spPr>
          <a:xfrm>
            <a:off x="640080" y="1737360"/>
            <a:ext cx="7406640" cy="713232"/>
          </a:xfrm>
          <a:prstGeom prst="roundRect">
            <a:avLst>
              <a:gd name="adj" fmla="val 10256"/>
            </a:avLst>
          </a:prstGeom>
          <a:solidFill>
            <a:srgbClr val="12333A"/>
          </a:solidFill>
          <a:ln/>
        </p:spPr>
      </p:sp>
      <p:sp>
        <p:nvSpPr>
          <p:cNvPr id="4" name="Shape 2"/>
          <p:cNvSpPr/>
          <p:nvPr/>
        </p:nvSpPr>
        <p:spPr>
          <a:xfrm>
            <a:off x="822960" y="1883664"/>
            <a:ext cx="420624" cy="420624"/>
          </a:xfrm>
          <a:prstGeom prst="ellipse">
            <a:avLst/>
          </a:prstGeom>
          <a:solidFill>
            <a:srgbClr val="00A896"/>
          </a:solidFill>
          <a:ln/>
        </p:spPr>
      </p:sp>
      <p:sp>
        <p:nvSpPr>
          <p:cNvPr id="5" name="Text 3"/>
          <p:cNvSpPr/>
          <p:nvPr/>
        </p:nvSpPr>
        <p:spPr>
          <a:xfrm>
            <a:off x="822960" y="1883664"/>
            <a:ext cx="420624" cy="420624"/>
          </a:xfrm>
          <a:prstGeom prst="rect">
            <a:avLst/>
          </a:prstGeom>
          <a:noFill/>
          <a:ln/>
        </p:spPr>
        <p:txBody>
          <a:bodyPr wrap="square" rtlCol="0" anchor="ctr"/>
          <a:lstStyle/>
          <a:p>
            <a:pPr marL="0" indent="0" algn="ctr">
              <a:buNone/>
            </a:pPr>
            <a:r>
              <a:rPr lang="en-US" sz="1400" b="1" dirty="0">
                <a:solidFill>
                  <a:srgbClr val="0B2027"/>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417320" y="1737360"/>
            <a:ext cx="6492240" cy="713232"/>
          </a:xfrm>
          <a:prstGeom prst="rect">
            <a:avLst/>
          </a:prstGeom>
          <a:noFill/>
          <a:ln/>
        </p:spPr>
        <p:txBody>
          <a:bodyPr wrap="square" rtlCol="0" anchor="ctr"/>
          <a:lstStyle/>
          <a:p>
            <a:pPr marL="0" indent="0">
              <a:buNone/>
            </a:pPr>
            <a:r>
              <a:rPr lang="en-US" sz="2000" dirty="0">
                <a:solidFill>
                  <a:srgbClr val="FFFFFF"/>
                </a:solidFill>
                <a:latin typeface="Times New Roman" panose="02020603050405020304" pitchFamily="18" charset="0"/>
                <a:ea typeface="Calibri" pitchFamily="34" charset="-122"/>
                <a:cs typeface="Times New Roman" panose="02020603050405020304" pitchFamily="18" charset="0"/>
              </a:rPr>
              <a:t>Security checks are automated.</a:t>
            </a:r>
            <a:endParaRPr lang="en-US" sz="2000" dirty="0">
              <a:latin typeface="Times New Roman" panose="02020603050405020304" pitchFamily="18" charset="0"/>
              <a:cs typeface="Times New Roman" panose="02020603050405020304" pitchFamily="18" charset="0"/>
            </a:endParaRPr>
          </a:p>
        </p:txBody>
      </p:sp>
      <p:sp>
        <p:nvSpPr>
          <p:cNvPr id="7" name="Shape 5"/>
          <p:cNvSpPr/>
          <p:nvPr/>
        </p:nvSpPr>
        <p:spPr>
          <a:xfrm>
            <a:off x="640080" y="2578608"/>
            <a:ext cx="7406640" cy="713232"/>
          </a:xfrm>
          <a:prstGeom prst="roundRect">
            <a:avLst>
              <a:gd name="adj" fmla="val 10256"/>
            </a:avLst>
          </a:prstGeom>
          <a:solidFill>
            <a:srgbClr val="12333A"/>
          </a:solidFill>
          <a:ln/>
        </p:spPr>
      </p:sp>
      <p:sp>
        <p:nvSpPr>
          <p:cNvPr id="8" name="Shape 6"/>
          <p:cNvSpPr/>
          <p:nvPr/>
        </p:nvSpPr>
        <p:spPr>
          <a:xfrm>
            <a:off x="822960" y="2724912"/>
            <a:ext cx="420624" cy="420624"/>
          </a:xfrm>
          <a:prstGeom prst="ellipse">
            <a:avLst/>
          </a:prstGeom>
          <a:solidFill>
            <a:srgbClr val="02C39A"/>
          </a:solidFill>
          <a:ln/>
        </p:spPr>
      </p:sp>
      <p:sp>
        <p:nvSpPr>
          <p:cNvPr id="9" name="Text 7"/>
          <p:cNvSpPr/>
          <p:nvPr/>
        </p:nvSpPr>
        <p:spPr>
          <a:xfrm>
            <a:off x="822960" y="2724912"/>
            <a:ext cx="420624" cy="420624"/>
          </a:xfrm>
          <a:prstGeom prst="rect">
            <a:avLst/>
          </a:prstGeom>
          <a:noFill/>
          <a:ln/>
        </p:spPr>
        <p:txBody>
          <a:bodyPr wrap="square" rtlCol="0" anchor="ctr"/>
          <a:lstStyle/>
          <a:p>
            <a:pPr marL="0" indent="0" algn="ctr">
              <a:buNone/>
            </a:pPr>
            <a:r>
              <a:rPr lang="en-US" sz="1400" b="1" dirty="0">
                <a:solidFill>
                  <a:srgbClr val="0B2027"/>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417320" y="2578608"/>
            <a:ext cx="6492240" cy="713232"/>
          </a:xfrm>
          <a:prstGeom prst="rect">
            <a:avLst/>
          </a:prstGeom>
          <a:noFill/>
          <a:ln/>
        </p:spPr>
        <p:txBody>
          <a:bodyPr wrap="square" rtlCol="0" anchor="ctr"/>
          <a:lstStyle/>
          <a:p>
            <a:pPr marL="0" indent="0">
              <a:buNone/>
            </a:pPr>
            <a:r>
              <a:rPr lang="en-US" sz="2000" dirty="0">
                <a:solidFill>
                  <a:srgbClr val="FFFFFF"/>
                </a:solidFill>
                <a:latin typeface="Times New Roman" panose="02020603050405020304" pitchFamily="18" charset="0"/>
                <a:ea typeface="Calibri" pitchFamily="34" charset="-122"/>
                <a:cs typeface="Times New Roman" panose="02020603050405020304" pitchFamily="18" charset="0"/>
              </a:rPr>
              <a:t>Security testing is integrated into the CI/CD pipeline.</a:t>
            </a:r>
            <a:endParaRPr lang="en-US" sz="2000" dirty="0">
              <a:latin typeface="Times New Roman" panose="02020603050405020304" pitchFamily="18" charset="0"/>
              <a:cs typeface="Times New Roman" panose="02020603050405020304" pitchFamily="18" charset="0"/>
            </a:endParaRPr>
          </a:p>
        </p:txBody>
      </p:sp>
      <p:sp>
        <p:nvSpPr>
          <p:cNvPr id="11" name="Shape 9"/>
          <p:cNvSpPr/>
          <p:nvPr/>
        </p:nvSpPr>
        <p:spPr>
          <a:xfrm>
            <a:off x="640080" y="3419856"/>
            <a:ext cx="7406640" cy="713232"/>
          </a:xfrm>
          <a:prstGeom prst="roundRect">
            <a:avLst>
              <a:gd name="adj" fmla="val 10256"/>
            </a:avLst>
          </a:prstGeom>
          <a:solidFill>
            <a:srgbClr val="12333A"/>
          </a:solidFill>
          <a:ln/>
        </p:spPr>
      </p:sp>
      <p:sp>
        <p:nvSpPr>
          <p:cNvPr id="12" name="Shape 10"/>
          <p:cNvSpPr/>
          <p:nvPr/>
        </p:nvSpPr>
        <p:spPr>
          <a:xfrm>
            <a:off x="822960" y="3566160"/>
            <a:ext cx="420624" cy="420624"/>
          </a:xfrm>
          <a:prstGeom prst="ellipse">
            <a:avLst/>
          </a:prstGeom>
          <a:solidFill>
            <a:srgbClr val="00A896"/>
          </a:solidFill>
          <a:ln/>
        </p:spPr>
      </p:sp>
      <p:sp>
        <p:nvSpPr>
          <p:cNvPr id="13" name="Text 11"/>
          <p:cNvSpPr/>
          <p:nvPr/>
        </p:nvSpPr>
        <p:spPr>
          <a:xfrm>
            <a:off x="822960" y="3566160"/>
            <a:ext cx="420624" cy="420624"/>
          </a:xfrm>
          <a:prstGeom prst="rect">
            <a:avLst/>
          </a:prstGeom>
          <a:noFill/>
          <a:ln/>
        </p:spPr>
        <p:txBody>
          <a:bodyPr wrap="square" rtlCol="0" anchor="ctr"/>
          <a:lstStyle/>
          <a:p>
            <a:pPr marL="0" indent="0" algn="ctr">
              <a:buNone/>
            </a:pPr>
            <a:r>
              <a:rPr lang="en-US" sz="1400" b="1" dirty="0">
                <a:solidFill>
                  <a:srgbClr val="0B2027"/>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417320" y="3419856"/>
            <a:ext cx="6492240" cy="713232"/>
          </a:xfrm>
          <a:prstGeom prst="rect">
            <a:avLst/>
          </a:prstGeom>
          <a:noFill/>
          <a:ln/>
        </p:spPr>
        <p:txBody>
          <a:bodyPr wrap="square" rtlCol="0" anchor="ctr"/>
          <a:lstStyle/>
          <a:p>
            <a:pPr marL="0" indent="0">
              <a:buNone/>
            </a:pPr>
            <a:r>
              <a:rPr lang="en-US" sz="2000" dirty="0">
                <a:solidFill>
                  <a:srgbClr val="FFFFFF"/>
                </a:solidFill>
                <a:latin typeface="Times New Roman" panose="02020603050405020304" pitchFamily="18" charset="0"/>
                <a:ea typeface="Calibri" pitchFamily="34" charset="-122"/>
                <a:cs typeface="Times New Roman" panose="02020603050405020304" pitchFamily="18" charset="0"/>
              </a:rPr>
              <a:t>Vulnerabilities are detected automatically.</a:t>
            </a:r>
            <a:endParaRPr lang="en-US" sz="2000" dirty="0">
              <a:latin typeface="Times New Roman" panose="02020603050405020304" pitchFamily="18" charset="0"/>
              <a:cs typeface="Times New Roman" panose="02020603050405020304" pitchFamily="18" charset="0"/>
            </a:endParaRPr>
          </a:p>
        </p:txBody>
      </p:sp>
      <p:sp>
        <p:nvSpPr>
          <p:cNvPr id="15" name="Shape 13"/>
          <p:cNvSpPr/>
          <p:nvPr/>
        </p:nvSpPr>
        <p:spPr>
          <a:xfrm>
            <a:off x="640080" y="4261104"/>
            <a:ext cx="7406640" cy="713232"/>
          </a:xfrm>
          <a:prstGeom prst="roundRect">
            <a:avLst>
              <a:gd name="adj" fmla="val 10256"/>
            </a:avLst>
          </a:prstGeom>
          <a:solidFill>
            <a:srgbClr val="12333A"/>
          </a:solidFill>
          <a:ln/>
        </p:spPr>
      </p:sp>
      <p:sp>
        <p:nvSpPr>
          <p:cNvPr id="16" name="Shape 14"/>
          <p:cNvSpPr/>
          <p:nvPr/>
        </p:nvSpPr>
        <p:spPr>
          <a:xfrm>
            <a:off x="822960" y="4407408"/>
            <a:ext cx="420624" cy="420624"/>
          </a:xfrm>
          <a:prstGeom prst="ellipse">
            <a:avLst/>
          </a:prstGeom>
          <a:solidFill>
            <a:srgbClr val="02C39A"/>
          </a:solidFill>
          <a:ln/>
        </p:spPr>
      </p:sp>
      <p:sp>
        <p:nvSpPr>
          <p:cNvPr id="17" name="Text 15"/>
          <p:cNvSpPr/>
          <p:nvPr/>
        </p:nvSpPr>
        <p:spPr>
          <a:xfrm>
            <a:off x="822960" y="4407408"/>
            <a:ext cx="420624" cy="420624"/>
          </a:xfrm>
          <a:prstGeom prst="rect">
            <a:avLst/>
          </a:prstGeom>
          <a:noFill/>
          <a:ln/>
        </p:spPr>
        <p:txBody>
          <a:bodyPr wrap="square" rtlCol="0" anchor="ctr"/>
          <a:lstStyle/>
          <a:p>
            <a:pPr marL="0" indent="0" algn="ctr">
              <a:buNone/>
            </a:pPr>
            <a:r>
              <a:rPr lang="en-US" sz="1400" b="1" dirty="0">
                <a:solidFill>
                  <a:srgbClr val="0B2027"/>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417320" y="4261104"/>
            <a:ext cx="6492240" cy="713232"/>
          </a:xfrm>
          <a:prstGeom prst="rect">
            <a:avLst/>
          </a:prstGeom>
          <a:noFill/>
          <a:ln/>
        </p:spPr>
        <p:txBody>
          <a:bodyPr wrap="square" rtlCol="0" anchor="ctr"/>
          <a:lstStyle/>
          <a:p>
            <a:pPr marL="0" indent="0">
              <a:buNone/>
            </a:pPr>
            <a:r>
              <a:rPr lang="en-US" sz="2000" dirty="0">
                <a:solidFill>
                  <a:srgbClr val="FFFFFF"/>
                </a:solidFill>
                <a:latin typeface="Times New Roman" panose="02020603050405020304" pitchFamily="18" charset="0"/>
                <a:ea typeface="Calibri" pitchFamily="34" charset="-122"/>
                <a:cs typeface="Times New Roman" panose="02020603050405020304" pitchFamily="18" charset="0"/>
              </a:rPr>
              <a:t>Manual security work is reduced.</a:t>
            </a:r>
            <a:endParaRPr lang="en-US" sz="2000" dirty="0">
              <a:latin typeface="Times New Roman" panose="02020603050405020304" pitchFamily="18" charset="0"/>
              <a:cs typeface="Times New Roman" panose="02020603050405020304" pitchFamily="18" charset="0"/>
            </a:endParaRPr>
          </a:p>
        </p:txBody>
      </p:sp>
      <p:sp>
        <p:nvSpPr>
          <p:cNvPr id="19" name="Shape 17"/>
          <p:cNvSpPr/>
          <p:nvPr/>
        </p:nvSpPr>
        <p:spPr>
          <a:xfrm>
            <a:off x="640080" y="5102352"/>
            <a:ext cx="7406640" cy="713232"/>
          </a:xfrm>
          <a:prstGeom prst="roundRect">
            <a:avLst>
              <a:gd name="adj" fmla="val 10256"/>
            </a:avLst>
          </a:prstGeom>
          <a:solidFill>
            <a:srgbClr val="12333A"/>
          </a:solidFill>
          <a:ln/>
        </p:spPr>
      </p:sp>
      <p:sp>
        <p:nvSpPr>
          <p:cNvPr id="20" name="Shape 18"/>
          <p:cNvSpPr/>
          <p:nvPr/>
        </p:nvSpPr>
        <p:spPr>
          <a:xfrm>
            <a:off x="822960" y="5248656"/>
            <a:ext cx="420624" cy="420624"/>
          </a:xfrm>
          <a:prstGeom prst="ellipse">
            <a:avLst/>
          </a:prstGeom>
          <a:solidFill>
            <a:srgbClr val="00A896"/>
          </a:solidFill>
          <a:ln/>
        </p:spPr>
      </p:sp>
      <p:sp>
        <p:nvSpPr>
          <p:cNvPr id="21" name="Text 19"/>
          <p:cNvSpPr/>
          <p:nvPr/>
        </p:nvSpPr>
        <p:spPr>
          <a:xfrm>
            <a:off x="822960" y="5248656"/>
            <a:ext cx="420624" cy="420624"/>
          </a:xfrm>
          <a:prstGeom prst="rect">
            <a:avLst/>
          </a:prstGeom>
          <a:noFill/>
          <a:ln/>
        </p:spPr>
        <p:txBody>
          <a:bodyPr wrap="square" rtlCol="0" anchor="ctr"/>
          <a:lstStyle/>
          <a:p>
            <a:pPr marL="0" indent="0" algn="ctr">
              <a:buNone/>
            </a:pPr>
            <a:r>
              <a:rPr lang="en-US" sz="1400" b="1" dirty="0">
                <a:solidFill>
                  <a:srgbClr val="0B2027"/>
                </a:solidFill>
                <a:latin typeface="Calibri" pitchFamily="34" charset="0"/>
                <a:ea typeface="Calibri" pitchFamily="34" charset="-122"/>
                <a:cs typeface="Calibri" pitchFamily="34" charset="-120"/>
              </a:rPr>
              <a:t>5</a:t>
            </a:r>
            <a:endParaRPr lang="en-US" sz="1400" dirty="0"/>
          </a:p>
        </p:txBody>
      </p:sp>
      <p:sp>
        <p:nvSpPr>
          <p:cNvPr id="22" name="Text 20"/>
          <p:cNvSpPr/>
          <p:nvPr/>
        </p:nvSpPr>
        <p:spPr>
          <a:xfrm>
            <a:off x="1417320" y="5102352"/>
            <a:ext cx="6492240" cy="713232"/>
          </a:xfrm>
          <a:prstGeom prst="rect">
            <a:avLst/>
          </a:prstGeom>
          <a:noFill/>
          <a:ln/>
        </p:spPr>
        <p:txBody>
          <a:bodyPr wrap="square" rtlCol="0" anchor="ctr"/>
          <a:lstStyle/>
          <a:p>
            <a:pPr marL="0" indent="0">
              <a:buNone/>
            </a:pPr>
            <a:r>
              <a:rPr lang="en-US" sz="2000" dirty="0">
                <a:solidFill>
                  <a:srgbClr val="FFFFFF"/>
                </a:solidFill>
                <a:latin typeface="Times New Roman" panose="02020603050405020304" pitchFamily="18" charset="0"/>
                <a:ea typeface="Calibri" pitchFamily="34" charset="-122"/>
                <a:cs typeface="Times New Roman" panose="02020603050405020304" pitchFamily="18" charset="0"/>
              </a:rPr>
              <a:t>Faster and more secure software delivery.</a:t>
            </a:r>
            <a:endParaRPr lang="en-US" sz="2000" dirty="0">
              <a:latin typeface="Times New Roman" panose="02020603050405020304" pitchFamily="18" charset="0"/>
              <a:cs typeface="Times New Roman" panose="02020603050405020304" pitchFamily="18" charset="0"/>
            </a:endParaRPr>
          </a:p>
        </p:txBody>
      </p:sp>
      <p:sp>
        <p:nvSpPr>
          <p:cNvPr id="23" name="Shape 21"/>
          <p:cNvSpPr/>
          <p:nvPr/>
        </p:nvSpPr>
        <p:spPr>
          <a:xfrm>
            <a:off x="8366760" y="1737360"/>
            <a:ext cx="3200400" cy="4114800"/>
          </a:xfrm>
          <a:prstGeom prst="roundRect">
            <a:avLst>
              <a:gd name="adj" fmla="val 3429"/>
            </a:avLst>
          </a:prstGeom>
          <a:solidFill>
            <a:srgbClr val="028090"/>
          </a:solidFill>
          <a:ln/>
        </p:spPr>
      </p:sp>
      <p:sp>
        <p:nvSpPr>
          <p:cNvPr id="24" name="Text 22"/>
          <p:cNvSpPr/>
          <p:nvPr/>
        </p:nvSpPr>
        <p:spPr>
          <a:xfrm>
            <a:off x="8595360" y="1965960"/>
            <a:ext cx="2743200" cy="365760"/>
          </a:xfrm>
          <a:prstGeom prst="rect">
            <a:avLst/>
          </a:prstGeom>
          <a:noFill/>
          <a:ln/>
        </p:spPr>
        <p:txBody>
          <a:bodyPr wrap="square" rtlCol="0" anchor="ctr"/>
          <a:lstStyle/>
          <a:p>
            <a:pPr marL="0" indent="0">
              <a:buNone/>
            </a:pPr>
            <a:r>
              <a:rPr lang="en-US" sz="1500" b="1" kern="0" spc="200" dirty="0">
                <a:solidFill>
                  <a:srgbClr val="FFFFFF"/>
                </a:solidFill>
                <a:latin typeface="Calibri" pitchFamily="34" charset="0"/>
                <a:ea typeface="Calibri" pitchFamily="34" charset="-122"/>
                <a:cs typeface="Calibri" pitchFamily="34" charset="-120"/>
              </a:rPr>
              <a:t>CI / CD</a:t>
            </a:r>
            <a:endParaRPr lang="en-US" sz="1500" dirty="0"/>
          </a:p>
        </p:txBody>
      </p:sp>
      <p:sp>
        <p:nvSpPr>
          <p:cNvPr id="25" name="Shape 23"/>
          <p:cNvSpPr/>
          <p:nvPr/>
        </p:nvSpPr>
        <p:spPr>
          <a:xfrm>
            <a:off x="8595360" y="2514600"/>
            <a:ext cx="274320" cy="274320"/>
          </a:xfrm>
          <a:prstGeom prst="ellipse">
            <a:avLst/>
          </a:prstGeom>
          <a:solidFill>
            <a:srgbClr val="02C39A"/>
          </a:solidFill>
          <a:ln/>
        </p:spPr>
      </p:sp>
      <p:sp>
        <p:nvSpPr>
          <p:cNvPr id="26" name="Text 24"/>
          <p:cNvSpPr/>
          <p:nvPr/>
        </p:nvSpPr>
        <p:spPr>
          <a:xfrm>
            <a:off x="9006840" y="2459736"/>
            <a:ext cx="2377440" cy="3657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Commit</a:t>
            </a:r>
            <a:endParaRPr lang="en-US" sz="1300" dirty="0"/>
          </a:p>
        </p:txBody>
      </p:sp>
      <p:sp>
        <p:nvSpPr>
          <p:cNvPr id="27" name="Shape 25"/>
          <p:cNvSpPr/>
          <p:nvPr/>
        </p:nvSpPr>
        <p:spPr>
          <a:xfrm>
            <a:off x="8732520" y="2788920"/>
            <a:ext cx="0" cy="365760"/>
          </a:xfrm>
          <a:prstGeom prst="line">
            <a:avLst/>
          </a:prstGeom>
          <a:noFill/>
          <a:ln w="19050">
            <a:solidFill>
              <a:srgbClr val="02C39A"/>
            </a:solidFill>
            <a:prstDash val="dash"/>
          </a:ln>
        </p:spPr>
      </p:sp>
      <p:sp>
        <p:nvSpPr>
          <p:cNvPr id="28" name="Shape 26"/>
          <p:cNvSpPr/>
          <p:nvPr/>
        </p:nvSpPr>
        <p:spPr>
          <a:xfrm>
            <a:off x="8595360" y="3136392"/>
            <a:ext cx="274320" cy="274320"/>
          </a:xfrm>
          <a:prstGeom prst="ellipse">
            <a:avLst/>
          </a:prstGeom>
          <a:solidFill>
            <a:srgbClr val="02C39A"/>
          </a:solidFill>
          <a:ln/>
        </p:spPr>
      </p:sp>
      <p:sp>
        <p:nvSpPr>
          <p:cNvPr id="29" name="Text 27"/>
          <p:cNvSpPr/>
          <p:nvPr/>
        </p:nvSpPr>
        <p:spPr>
          <a:xfrm>
            <a:off x="9006840" y="3081528"/>
            <a:ext cx="2377440" cy="3657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Build</a:t>
            </a:r>
            <a:endParaRPr lang="en-US" sz="1300" dirty="0"/>
          </a:p>
        </p:txBody>
      </p:sp>
      <p:sp>
        <p:nvSpPr>
          <p:cNvPr id="30" name="Shape 28"/>
          <p:cNvSpPr/>
          <p:nvPr/>
        </p:nvSpPr>
        <p:spPr>
          <a:xfrm>
            <a:off x="8732520" y="3410712"/>
            <a:ext cx="0" cy="365760"/>
          </a:xfrm>
          <a:prstGeom prst="line">
            <a:avLst/>
          </a:prstGeom>
          <a:noFill/>
          <a:ln w="19050">
            <a:solidFill>
              <a:srgbClr val="02C39A"/>
            </a:solidFill>
            <a:prstDash val="dash"/>
          </a:ln>
        </p:spPr>
      </p:sp>
      <p:sp>
        <p:nvSpPr>
          <p:cNvPr id="31" name="Shape 29"/>
          <p:cNvSpPr/>
          <p:nvPr/>
        </p:nvSpPr>
        <p:spPr>
          <a:xfrm>
            <a:off x="8595360" y="3758184"/>
            <a:ext cx="274320" cy="274320"/>
          </a:xfrm>
          <a:prstGeom prst="ellipse">
            <a:avLst/>
          </a:prstGeom>
          <a:solidFill>
            <a:srgbClr val="02C39A"/>
          </a:solidFill>
          <a:ln/>
        </p:spPr>
      </p:sp>
      <p:sp>
        <p:nvSpPr>
          <p:cNvPr id="32" name="Text 30"/>
          <p:cNvSpPr/>
          <p:nvPr/>
        </p:nvSpPr>
        <p:spPr>
          <a:xfrm>
            <a:off x="9006840" y="3703320"/>
            <a:ext cx="2377440" cy="3657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Scan</a:t>
            </a:r>
            <a:endParaRPr lang="en-US" sz="1300" dirty="0"/>
          </a:p>
        </p:txBody>
      </p:sp>
      <p:sp>
        <p:nvSpPr>
          <p:cNvPr id="33" name="Shape 31"/>
          <p:cNvSpPr/>
          <p:nvPr/>
        </p:nvSpPr>
        <p:spPr>
          <a:xfrm>
            <a:off x="8732520" y="4032504"/>
            <a:ext cx="0" cy="365760"/>
          </a:xfrm>
          <a:prstGeom prst="line">
            <a:avLst/>
          </a:prstGeom>
          <a:noFill/>
          <a:ln w="19050">
            <a:solidFill>
              <a:srgbClr val="02C39A"/>
            </a:solidFill>
            <a:prstDash val="dash"/>
          </a:ln>
        </p:spPr>
      </p:sp>
      <p:sp>
        <p:nvSpPr>
          <p:cNvPr id="34" name="Shape 32"/>
          <p:cNvSpPr/>
          <p:nvPr/>
        </p:nvSpPr>
        <p:spPr>
          <a:xfrm>
            <a:off x="8595360" y="4379976"/>
            <a:ext cx="274320" cy="274320"/>
          </a:xfrm>
          <a:prstGeom prst="ellipse">
            <a:avLst/>
          </a:prstGeom>
          <a:solidFill>
            <a:srgbClr val="02C39A"/>
          </a:solidFill>
          <a:ln/>
        </p:spPr>
      </p:sp>
      <p:sp>
        <p:nvSpPr>
          <p:cNvPr id="35" name="Text 33"/>
          <p:cNvSpPr/>
          <p:nvPr/>
        </p:nvSpPr>
        <p:spPr>
          <a:xfrm>
            <a:off x="9006840" y="4325112"/>
            <a:ext cx="2377440" cy="3657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Test</a:t>
            </a:r>
            <a:endParaRPr lang="en-US" sz="1300" dirty="0"/>
          </a:p>
        </p:txBody>
      </p:sp>
      <p:sp>
        <p:nvSpPr>
          <p:cNvPr id="36" name="Shape 34"/>
          <p:cNvSpPr/>
          <p:nvPr/>
        </p:nvSpPr>
        <p:spPr>
          <a:xfrm>
            <a:off x="8732520" y="4654296"/>
            <a:ext cx="0" cy="365760"/>
          </a:xfrm>
          <a:prstGeom prst="line">
            <a:avLst/>
          </a:prstGeom>
          <a:noFill/>
          <a:ln w="19050">
            <a:solidFill>
              <a:srgbClr val="02C39A"/>
            </a:solidFill>
            <a:prstDash val="dash"/>
          </a:ln>
        </p:spPr>
      </p:sp>
      <p:sp>
        <p:nvSpPr>
          <p:cNvPr id="37" name="Shape 35"/>
          <p:cNvSpPr/>
          <p:nvPr/>
        </p:nvSpPr>
        <p:spPr>
          <a:xfrm>
            <a:off x="8595360" y="5001768"/>
            <a:ext cx="274320" cy="274320"/>
          </a:xfrm>
          <a:prstGeom prst="ellipse">
            <a:avLst/>
          </a:prstGeom>
          <a:solidFill>
            <a:srgbClr val="02C39A"/>
          </a:solidFill>
          <a:ln/>
        </p:spPr>
      </p:sp>
      <p:sp>
        <p:nvSpPr>
          <p:cNvPr id="38" name="Text 36"/>
          <p:cNvSpPr/>
          <p:nvPr/>
        </p:nvSpPr>
        <p:spPr>
          <a:xfrm>
            <a:off x="9006840" y="4946904"/>
            <a:ext cx="2377440" cy="3657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Deploy</a:t>
            </a:r>
            <a:endParaRPr lang="en-US" sz="1300" dirty="0"/>
          </a:p>
        </p:txBody>
      </p:sp>
      <p:sp>
        <p:nvSpPr>
          <p:cNvPr id="40" name="Text 37"/>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E7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640080"/>
          </a:xfrm>
          <a:prstGeom prst="rect">
            <a:avLst/>
          </a:prstGeom>
          <a:noFill/>
          <a:ln/>
        </p:spPr>
        <p:txBody>
          <a:bodyPr wrap="square" rtlCol="0" anchor="ctr"/>
          <a:lstStyle/>
          <a:p>
            <a:pPr marL="0" indent="0">
              <a:buNone/>
            </a:pPr>
            <a:r>
              <a:rPr lang="en-US" sz="3200" b="1" dirty="0">
                <a:solidFill>
                  <a:srgbClr val="1B2B2E"/>
                </a:solidFill>
                <a:latin typeface="Cambria" pitchFamily="34" charset="0"/>
                <a:ea typeface="Cambria" pitchFamily="34" charset="-122"/>
                <a:cs typeface="Cambria" pitchFamily="34" charset="-120"/>
              </a:rPr>
              <a:t>Benefits of Secure by Default</a:t>
            </a:r>
            <a:endParaRPr lang="en-US" sz="3200" dirty="0"/>
          </a:p>
        </p:txBody>
      </p:sp>
      <p:sp>
        <p:nvSpPr>
          <p:cNvPr id="3" name="Shape 1"/>
          <p:cNvSpPr/>
          <p:nvPr/>
        </p:nvSpPr>
        <p:spPr>
          <a:xfrm>
            <a:off x="640080" y="1554480"/>
            <a:ext cx="5394960" cy="777240"/>
          </a:xfrm>
          <a:prstGeom prst="roundRect">
            <a:avLst>
              <a:gd name="adj" fmla="val 11765"/>
            </a:avLst>
          </a:prstGeom>
          <a:solidFill>
            <a:srgbClr val="F1F7F7"/>
          </a:solidFill>
          <a:ln/>
        </p:spPr>
      </p:sp>
      <p:sp>
        <p:nvSpPr>
          <p:cNvPr id="4" name="Shape 2"/>
          <p:cNvSpPr/>
          <p:nvPr/>
        </p:nvSpPr>
        <p:spPr>
          <a:xfrm>
            <a:off x="822960" y="1737360"/>
            <a:ext cx="411480" cy="411480"/>
          </a:xfrm>
          <a:prstGeom prst="ellipse">
            <a:avLst/>
          </a:prstGeom>
          <a:solidFill>
            <a:srgbClr val="028090"/>
          </a:solidFill>
          <a:ln/>
        </p:spPr>
      </p:sp>
      <p:sp>
        <p:nvSpPr>
          <p:cNvPr id="5" name="Text 3"/>
          <p:cNvSpPr/>
          <p:nvPr/>
        </p:nvSpPr>
        <p:spPr>
          <a:xfrm>
            <a:off x="822960" y="1737360"/>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417320" y="1554480"/>
            <a:ext cx="4434840" cy="777240"/>
          </a:xfrm>
          <a:prstGeom prst="rect">
            <a:avLst/>
          </a:prstGeom>
          <a:noFill/>
          <a:ln/>
        </p:spPr>
        <p:txBody>
          <a:bodyPr wrap="square" rtlCol="0" anchor="ctr"/>
          <a:lstStyle/>
          <a:p>
            <a:pPr marL="0" indent="0">
              <a:buNone/>
            </a:pP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Improves application security</a:t>
            </a:r>
            <a:r>
              <a:rPr lang="en-US" sz="1400" dirty="0">
                <a:solidFill>
                  <a:srgbClr val="1B2B2E"/>
                </a:solidFill>
                <a:latin typeface="Calibri" pitchFamily="34" charset="0"/>
                <a:ea typeface="Calibri" pitchFamily="34" charset="-122"/>
                <a:cs typeface="Calibri" pitchFamily="34" charset="-120"/>
              </a:rPr>
              <a:t>.</a:t>
            </a:r>
            <a:endParaRPr lang="en-US" sz="1400" dirty="0"/>
          </a:p>
        </p:txBody>
      </p:sp>
      <p:sp>
        <p:nvSpPr>
          <p:cNvPr id="7" name="Shape 5"/>
          <p:cNvSpPr/>
          <p:nvPr/>
        </p:nvSpPr>
        <p:spPr>
          <a:xfrm>
            <a:off x="6309360" y="1554480"/>
            <a:ext cx="5394960" cy="777240"/>
          </a:xfrm>
          <a:prstGeom prst="roundRect">
            <a:avLst>
              <a:gd name="adj" fmla="val 11765"/>
            </a:avLst>
          </a:prstGeom>
          <a:solidFill>
            <a:srgbClr val="F1F7F7"/>
          </a:solidFill>
          <a:ln/>
        </p:spPr>
      </p:sp>
      <p:sp>
        <p:nvSpPr>
          <p:cNvPr id="8" name="Shape 6"/>
          <p:cNvSpPr/>
          <p:nvPr/>
        </p:nvSpPr>
        <p:spPr>
          <a:xfrm>
            <a:off x="6492240" y="1737360"/>
            <a:ext cx="411480" cy="411480"/>
          </a:xfrm>
          <a:prstGeom prst="ellipse">
            <a:avLst/>
          </a:prstGeom>
          <a:solidFill>
            <a:srgbClr val="00A896"/>
          </a:solidFill>
          <a:ln/>
        </p:spPr>
      </p:sp>
      <p:sp>
        <p:nvSpPr>
          <p:cNvPr id="9" name="Text 7"/>
          <p:cNvSpPr/>
          <p:nvPr/>
        </p:nvSpPr>
        <p:spPr>
          <a:xfrm>
            <a:off x="6492240" y="1737360"/>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7086600" y="1554480"/>
            <a:ext cx="4434840" cy="777240"/>
          </a:xfrm>
          <a:prstGeom prst="rect">
            <a:avLst/>
          </a:prstGeom>
          <a:noFill/>
          <a:ln/>
        </p:spPr>
        <p:txBody>
          <a:bodyPr wrap="square" rtlCol="0" anchor="ctr"/>
          <a:lstStyle/>
          <a:p>
            <a:pPr marL="0" indent="0">
              <a:buNone/>
            </a:pP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Detects vulnerabilities early</a:t>
            </a:r>
            <a:r>
              <a:rPr lang="en-US" sz="1400" dirty="0">
                <a:solidFill>
                  <a:srgbClr val="1B2B2E"/>
                </a:solidFill>
                <a:latin typeface="Times New Roman" panose="02020603050405020304" pitchFamily="18" charset="0"/>
                <a:ea typeface="Calibri"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11" name="Shape 9"/>
          <p:cNvSpPr/>
          <p:nvPr/>
        </p:nvSpPr>
        <p:spPr>
          <a:xfrm>
            <a:off x="640080" y="2560320"/>
            <a:ext cx="5394960" cy="777240"/>
          </a:xfrm>
          <a:prstGeom prst="roundRect">
            <a:avLst>
              <a:gd name="adj" fmla="val 11765"/>
            </a:avLst>
          </a:prstGeom>
          <a:solidFill>
            <a:srgbClr val="F1F7F7"/>
          </a:solidFill>
          <a:ln/>
        </p:spPr>
      </p:sp>
      <p:sp>
        <p:nvSpPr>
          <p:cNvPr id="12" name="Shape 10"/>
          <p:cNvSpPr/>
          <p:nvPr/>
        </p:nvSpPr>
        <p:spPr>
          <a:xfrm>
            <a:off x="822960" y="2743200"/>
            <a:ext cx="411480" cy="411480"/>
          </a:xfrm>
          <a:prstGeom prst="ellipse">
            <a:avLst/>
          </a:prstGeom>
          <a:solidFill>
            <a:srgbClr val="02C39A"/>
          </a:solidFill>
          <a:ln/>
        </p:spPr>
      </p:sp>
      <p:sp>
        <p:nvSpPr>
          <p:cNvPr id="13" name="Text 11"/>
          <p:cNvSpPr/>
          <p:nvPr/>
        </p:nvSpPr>
        <p:spPr>
          <a:xfrm>
            <a:off x="822960" y="2743200"/>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417320" y="2560320"/>
            <a:ext cx="4434840" cy="777240"/>
          </a:xfrm>
          <a:prstGeom prst="rect">
            <a:avLst/>
          </a:prstGeom>
          <a:noFill/>
          <a:ln/>
        </p:spPr>
        <p:txBody>
          <a:bodyPr wrap="square" rtlCol="0" anchor="ctr"/>
          <a:lstStyle/>
          <a:p>
            <a:pPr marL="0" indent="0">
              <a:buNone/>
            </a:pP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Reduces security risks</a:t>
            </a:r>
            <a:r>
              <a:rPr lang="en-US" sz="1400" dirty="0">
                <a:solidFill>
                  <a:srgbClr val="1B2B2E"/>
                </a:solidFill>
                <a:latin typeface="Times New Roman" panose="02020603050405020304" pitchFamily="18" charset="0"/>
                <a:ea typeface="Calibri"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15" name="Shape 13"/>
          <p:cNvSpPr/>
          <p:nvPr/>
        </p:nvSpPr>
        <p:spPr>
          <a:xfrm>
            <a:off x="6309360" y="2560320"/>
            <a:ext cx="5394960" cy="777240"/>
          </a:xfrm>
          <a:prstGeom prst="roundRect">
            <a:avLst>
              <a:gd name="adj" fmla="val 11765"/>
            </a:avLst>
          </a:prstGeom>
          <a:solidFill>
            <a:srgbClr val="F1F7F7"/>
          </a:solidFill>
          <a:ln/>
        </p:spPr>
      </p:sp>
      <p:sp>
        <p:nvSpPr>
          <p:cNvPr id="16" name="Shape 14"/>
          <p:cNvSpPr/>
          <p:nvPr/>
        </p:nvSpPr>
        <p:spPr>
          <a:xfrm>
            <a:off x="6492240" y="2743200"/>
            <a:ext cx="411480" cy="411480"/>
          </a:xfrm>
          <a:prstGeom prst="ellipse">
            <a:avLst/>
          </a:prstGeom>
          <a:solidFill>
            <a:srgbClr val="028090"/>
          </a:solidFill>
          <a:ln/>
        </p:spPr>
      </p:sp>
      <p:sp>
        <p:nvSpPr>
          <p:cNvPr id="17" name="Text 15"/>
          <p:cNvSpPr/>
          <p:nvPr/>
        </p:nvSpPr>
        <p:spPr>
          <a:xfrm>
            <a:off x="6492240" y="2743200"/>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7086600" y="2560320"/>
            <a:ext cx="4434840" cy="777240"/>
          </a:xfrm>
          <a:prstGeom prst="rect">
            <a:avLst/>
          </a:prstGeom>
          <a:noFill/>
          <a:ln/>
        </p:spPr>
        <p:txBody>
          <a:bodyPr wrap="square" rtlCol="0" anchor="ctr"/>
          <a:lstStyle/>
          <a:p>
            <a:pPr marL="0" indent="0">
              <a:buNone/>
            </a:pP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Saves time and cost.</a:t>
            </a:r>
            <a:endParaRPr lang="en-US" sz="2000" dirty="0">
              <a:latin typeface="Times New Roman" panose="02020603050405020304" pitchFamily="18" charset="0"/>
              <a:cs typeface="Times New Roman" panose="02020603050405020304" pitchFamily="18" charset="0"/>
            </a:endParaRPr>
          </a:p>
        </p:txBody>
      </p:sp>
      <p:sp>
        <p:nvSpPr>
          <p:cNvPr id="19" name="Shape 17"/>
          <p:cNvSpPr/>
          <p:nvPr/>
        </p:nvSpPr>
        <p:spPr>
          <a:xfrm>
            <a:off x="640080" y="3566160"/>
            <a:ext cx="5394960" cy="777240"/>
          </a:xfrm>
          <a:prstGeom prst="roundRect">
            <a:avLst>
              <a:gd name="adj" fmla="val 11765"/>
            </a:avLst>
          </a:prstGeom>
          <a:solidFill>
            <a:srgbClr val="F1F7F7"/>
          </a:solidFill>
          <a:ln/>
        </p:spPr>
      </p:sp>
      <p:sp>
        <p:nvSpPr>
          <p:cNvPr id="20" name="Shape 18"/>
          <p:cNvSpPr/>
          <p:nvPr/>
        </p:nvSpPr>
        <p:spPr>
          <a:xfrm>
            <a:off x="822960" y="3749040"/>
            <a:ext cx="411480" cy="411480"/>
          </a:xfrm>
          <a:prstGeom prst="ellipse">
            <a:avLst/>
          </a:prstGeom>
          <a:solidFill>
            <a:srgbClr val="00A896"/>
          </a:solidFill>
          <a:ln/>
        </p:spPr>
      </p:sp>
      <p:sp>
        <p:nvSpPr>
          <p:cNvPr id="21" name="Text 19"/>
          <p:cNvSpPr/>
          <p:nvPr/>
        </p:nvSpPr>
        <p:spPr>
          <a:xfrm>
            <a:off x="822960" y="3749040"/>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p:nvPr/>
        </p:nvSpPr>
        <p:spPr>
          <a:xfrm>
            <a:off x="1417320" y="3566160"/>
            <a:ext cx="4434840" cy="777240"/>
          </a:xfrm>
          <a:prstGeom prst="rect">
            <a:avLst/>
          </a:prstGeom>
          <a:noFill/>
          <a:ln/>
        </p:spPr>
        <p:txBody>
          <a:bodyPr wrap="square" rtlCol="0" anchor="ctr"/>
          <a:lstStyle/>
          <a:p>
            <a:pPr marL="0" indent="0">
              <a:buNone/>
            </a:pP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Enables faster software delivery</a:t>
            </a:r>
            <a:r>
              <a:rPr lang="en-US" sz="1400" dirty="0">
                <a:solidFill>
                  <a:srgbClr val="1B2B2E"/>
                </a:solidFill>
                <a:latin typeface="Times New Roman" panose="02020603050405020304" pitchFamily="18" charset="0"/>
                <a:ea typeface="Calibri"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23" name="Shape 21"/>
          <p:cNvSpPr/>
          <p:nvPr/>
        </p:nvSpPr>
        <p:spPr>
          <a:xfrm>
            <a:off x="6309360" y="3566160"/>
            <a:ext cx="5394960" cy="777240"/>
          </a:xfrm>
          <a:prstGeom prst="roundRect">
            <a:avLst>
              <a:gd name="adj" fmla="val 11765"/>
            </a:avLst>
          </a:prstGeom>
          <a:solidFill>
            <a:srgbClr val="F1F7F7"/>
          </a:solidFill>
          <a:ln/>
        </p:spPr>
      </p:sp>
      <p:sp>
        <p:nvSpPr>
          <p:cNvPr id="24" name="Shape 22"/>
          <p:cNvSpPr/>
          <p:nvPr/>
        </p:nvSpPr>
        <p:spPr>
          <a:xfrm>
            <a:off x="6492240" y="3749040"/>
            <a:ext cx="411480" cy="411480"/>
          </a:xfrm>
          <a:prstGeom prst="ellipse">
            <a:avLst/>
          </a:prstGeom>
          <a:solidFill>
            <a:srgbClr val="02C39A"/>
          </a:solidFill>
          <a:ln/>
        </p:spPr>
      </p:sp>
      <p:sp>
        <p:nvSpPr>
          <p:cNvPr id="25" name="Text 23"/>
          <p:cNvSpPr/>
          <p:nvPr/>
        </p:nvSpPr>
        <p:spPr>
          <a:xfrm>
            <a:off x="6492240" y="3749040"/>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6" name="Text 24"/>
          <p:cNvSpPr/>
          <p:nvPr/>
        </p:nvSpPr>
        <p:spPr>
          <a:xfrm>
            <a:off x="7086600" y="3566160"/>
            <a:ext cx="4434840" cy="777240"/>
          </a:xfrm>
          <a:prstGeom prst="rect">
            <a:avLst/>
          </a:prstGeom>
          <a:noFill/>
          <a:ln/>
        </p:spPr>
        <p:txBody>
          <a:bodyPr wrap="square" rtlCol="0" anchor="ctr"/>
          <a:lstStyle/>
          <a:p>
            <a:pPr marL="0" indent="0">
              <a:buNone/>
            </a:pP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Builds customer trust.</a:t>
            </a:r>
            <a:endParaRPr lang="en-US" sz="2000" dirty="0">
              <a:latin typeface="Times New Roman" panose="02020603050405020304" pitchFamily="18" charset="0"/>
              <a:cs typeface="Times New Roman" panose="02020603050405020304" pitchFamily="18" charset="0"/>
            </a:endParaRPr>
          </a:p>
        </p:txBody>
      </p:sp>
      <p:sp>
        <p:nvSpPr>
          <p:cNvPr id="27" name="Shape 25"/>
          <p:cNvSpPr/>
          <p:nvPr/>
        </p:nvSpPr>
        <p:spPr>
          <a:xfrm>
            <a:off x="701040" y="4572000"/>
            <a:ext cx="5394960" cy="777240"/>
          </a:xfrm>
          <a:prstGeom prst="roundRect">
            <a:avLst>
              <a:gd name="adj" fmla="val 11765"/>
            </a:avLst>
          </a:prstGeom>
          <a:solidFill>
            <a:srgbClr val="F1F7F7"/>
          </a:solidFill>
          <a:ln/>
        </p:spPr>
      </p:sp>
      <p:sp>
        <p:nvSpPr>
          <p:cNvPr id="28" name="Shape 26"/>
          <p:cNvSpPr/>
          <p:nvPr/>
        </p:nvSpPr>
        <p:spPr>
          <a:xfrm>
            <a:off x="822960" y="4754880"/>
            <a:ext cx="411480" cy="411480"/>
          </a:xfrm>
          <a:prstGeom prst="ellipse">
            <a:avLst/>
          </a:prstGeom>
          <a:solidFill>
            <a:srgbClr val="028090"/>
          </a:solidFill>
          <a:ln/>
        </p:spPr>
      </p:sp>
      <p:sp>
        <p:nvSpPr>
          <p:cNvPr id="29" name="Text 27"/>
          <p:cNvSpPr/>
          <p:nvPr/>
        </p:nvSpPr>
        <p:spPr>
          <a:xfrm>
            <a:off x="822960" y="4754880"/>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0" name="Text 28"/>
          <p:cNvSpPr/>
          <p:nvPr/>
        </p:nvSpPr>
        <p:spPr>
          <a:xfrm>
            <a:off x="1417320" y="4572000"/>
            <a:ext cx="4434840" cy="777240"/>
          </a:xfrm>
          <a:prstGeom prst="rect">
            <a:avLst/>
          </a:prstGeom>
          <a:noFill/>
          <a:ln/>
        </p:spPr>
        <p:txBody>
          <a:bodyPr wrap="square" rtlCol="0" anchor="ctr"/>
          <a:lstStyle/>
          <a:p>
            <a:pPr marL="0" indent="0">
              <a:buNone/>
            </a:pP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Supports continuous security monitoring</a:t>
            </a:r>
            <a:r>
              <a:rPr lang="en-US" sz="2000" dirty="0">
                <a:solidFill>
                  <a:srgbClr val="1B2B2E"/>
                </a:solidFill>
                <a:latin typeface="Calibri" pitchFamily="34" charset="0"/>
                <a:ea typeface="Calibri" pitchFamily="34" charset="-122"/>
                <a:cs typeface="Calibri" pitchFamily="34" charset="-120"/>
              </a:rPr>
              <a:t>.</a:t>
            </a:r>
            <a:endParaRPr lang="en-US" sz="2000" dirty="0"/>
          </a:p>
        </p:txBody>
      </p:sp>
      <p:sp>
        <p:nvSpPr>
          <p:cNvPr id="32" name="Text 29"/>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E7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9144000" cy="640080"/>
          </a:xfrm>
          <a:prstGeom prst="rect">
            <a:avLst/>
          </a:prstGeom>
          <a:noFill/>
          <a:ln/>
        </p:spPr>
        <p:txBody>
          <a:bodyPr wrap="square" rtlCol="0" anchor="ctr"/>
          <a:lstStyle/>
          <a:p>
            <a:pPr marL="0" indent="0">
              <a:buNone/>
            </a:pPr>
            <a:r>
              <a:rPr lang="en-US" sz="3200" b="1" dirty="0">
                <a:solidFill>
                  <a:srgbClr val="1B2B2E"/>
                </a:solidFill>
                <a:latin typeface="Cambria" pitchFamily="34" charset="0"/>
                <a:ea typeface="Cambria" pitchFamily="34" charset="-122"/>
                <a:cs typeface="Cambria" pitchFamily="34" charset="-120"/>
              </a:rPr>
              <a:t>Challenges</a:t>
            </a:r>
            <a:endParaRPr lang="en-US" sz="3200" dirty="0"/>
          </a:p>
        </p:txBody>
      </p:sp>
      <p:sp>
        <p:nvSpPr>
          <p:cNvPr id="3" name="Shape 1"/>
          <p:cNvSpPr/>
          <p:nvPr/>
        </p:nvSpPr>
        <p:spPr>
          <a:xfrm>
            <a:off x="640080" y="1645920"/>
            <a:ext cx="10881360" cy="713232"/>
          </a:xfrm>
          <a:prstGeom prst="roundRect">
            <a:avLst>
              <a:gd name="adj" fmla="val 10256"/>
            </a:avLst>
          </a:prstGeom>
          <a:solidFill>
            <a:srgbClr val="F1F7F7"/>
          </a:solidFill>
          <a:ln/>
        </p:spPr>
      </p:sp>
      <p:sp>
        <p:nvSpPr>
          <p:cNvPr id="4" name="Shape 2"/>
          <p:cNvSpPr/>
          <p:nvPr/>
        </p:nvSpPr>
        <p:spPr>
          <a:xfrm>
            <a:off x="868680" y="1773936"/>
            <a:ext cx="457200" cy="457200"/>
          </a:xfrm>
          <a:prstGeom prst="ellipse">
            <a:avLst/>
          </a:prstGeom>
          <a:solidFill>
            <a:srgbClr val="028090"/>
          </a:solidFill>
          <a:ln/>
        </p:spPr>
      </p:sp>
      <p:sp>
        <p:nvSpPr>
          <p:cNvPr id="5" name="Text 3"/>
          <p:cNvSpPr/>
          <p:nvPr/>
        </p:nvSpPr>
        <p:spPr>
          <a:xfrm>
            <a:off x="868680" y="1773936"/>
            <a:ext cx="457200" cy="45720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6" name="Text 4"/>
          <p:cNvSpPr/>
          <p:nvPr/>
        </p:nvSpPr>
        <p:spPr>
          <a:xfrm>
            <a:off x="1554480" y="1645920"/>
            <a:ext cx="9784080" cy="713232"/>
          </a:xfrm>
          <a:prstGeom prst="rect">
            <a:avLst/>
          </a:prstGeom>
          <a:noFill/>
          <a:ln/>
        </p:spPr>
        <p:txBody>
          <a:bodyPr wrap="square" rtlCol="0" anchor="ctr"/>
          <a:lstStyle/>
          <a:p>
            <a:pPr marL="0" indent="0">
              <a:buNone/>
            </a:pP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Developers need security knowledge</a:t>
            </a:r>
            <a:r>
              <a:rPr lang="en-US" sz="1500" dirty="0">
                <a:solidFill>
                  <a:srgbClr val="1B2B2E"/>
                </a:solidFill>
                <a:latin typeface="Calibri" pitchFamily="34" charset="0"/>
                <a:ea typeface="Calibri" pitchFamily="34" charset="-122"/>
                <a:cs typeface="Calibri" pitchFamily="34" charset="-120"/>
              </a:rPr>
              <a:t>.</a:t>
            </a:r>
            <a:endParaRPr lang="en-US" sz="1500" dirty="0"/>
          </a:p>
        </p:txBody>
      </p:sp>
      <p:sp>
        <p:nvSpPr>
          <p:cNvPr id="7" name="Shape 5"/>
          <p:cNvSpPr/>
          <p:nvPr/>
        </p:nvSpPr>
        <p:spPr>
          <a:xfrm>
            <a:off x="667512" y="2487168"/>
            <a:ext cx="10881360" cy="713232"/>
          </a:xfrm>
          <a:prstGeom prst="roundRect">
            <a:avLst>
              <a:gd name="adj" fmla="val 10256"/>
            </a:avLst>
          </a:prstGeom>
          <a:solidFill>
            <a:srgbClr val="F1F7F7"/>
          </a:solidFill>
          <a:ln/>
        </p:spPr>
      </p:sp>
      <p:sp>
        <p:nvSpPr>
          <p:cNvPr id="8" name="Shape 6"/>
          <p:cNvSpPr/>
          <p:nvPr/>
        </p:nvSpPr>
        <p:spPr>
          <a:xfrm>
            <a:off x="868680" y="2633472"/>
            <a:ext cx="457200" cy="457200"/>
          </a:xfrm>
          <a:prstGeom prst="ellipse">
            <a:avLst/>
          </a:prstGeom>
          <a:solidFill>
            <a:srgbClr val="028090"/>
          </a:solidFill>
          <a:ln/>
        </p:spPr>
      </p:sp>
      <p:sp>
        <p:nvSpPr>
          <p:cNvPr id="9" name="Text 7"/>
          <p:cNvSpPr/>
          <p:nvPr/>
        </p:nvSpPr>
        <p:spPr>
          <a:xfrm>
            <a:off x="868680" y="2633472"/>
            <a:ext cx="457200" cy="45720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0" name="Text 8"/>
          <p:cNvSpPr/>
          <p:nvPr/>
        </p:nvSpPr>
        <p:spPr>
          <a:xfrm>
            <a:off x="1554480" y="2505456"/>
            <a:ext cx="9784080" cy="713232"/>
          </a:xfrm>
          <a:prstGeom prst="rect">
            <a:avLst/>
          </a:prstGeom>
          <a:noFill/>
          <a:ln/>
        </p:spPr>
        <p:txBody>
          <a:bodyPr wrap="square" rtlCol="0" anchor="ctr"/>
          <a:lstStyle/>
          <a:p>
            <a:pPr marL="0" indent="0">
              <a:buNone/>
            </a:pP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Integration of security tools can be difficult.</a:t>
            </a:r>
            <a:endParaRPr lang="en-US" sz="2000" dirty="0">
              <a:latin typeface="Times New Roman" panose="02020603050405020304" pitchFamily="18" charset="0"/>
              <a:cs typeface="Times New Roman" panose="02020603050405020304" pitchFamily="18" charset="0"/>
            </a:endParaRPr>
          </a:p>
        </p:txBody>
      </p:sp>
      <p:sp>
        <p:nvSpPr>
          <p:cNvPr id="11" name="Shape 9"/>
          <p:cNvSpPr/>
          <p:nvPr/>
        </p:nvSpPr>
        <p:spPr>
          <a:xfrm>
            <a:off x="640080" y="3364992"/>
            <a:ext cx="10881360" cy="713232"/>
          </a:xfrm>
          <a:prstGeom prst="roundRect">
            <a:avLst>
              <a:gd name="adj" fmla="val 10256"/>
            </a:avLst>
          </a:prstGeom>
          <a:solidFill>
            <a:srgbClr val="F1F7F7"/>
          </a:solidFill>
          <a:ln/>
        </p:spPr>
      </p:sp>
      <p:sp>
        <p:nvSpPr>
          <p:cNvPr id="12" name="Shape 10"/>
          <p:cNvSpPr/>
          <p:nvPr/>
        </p:nvSpPr>
        <p:spPr>
          <a:xfrm>
            <a:off x="868680" y="3493008"/>
            <a:ext cx="457200" cy="457200"/>
          </a:xfrm>
          <a:prstGeom prst="ellipse">
            <a:avLst/>
          </a:prstGeom>
          <a:solidFill>
            <a:srgbClr val="028090"/>
          </a:solidFill>
          <a:ln/>
        </p:spPr>
      </p:sp>
      <p:sp>
        <p:nvSpPr>
          <p:cNvPr id="13" name="Text 11"/>
          <p:cNvSpPr/>
          <p:nvPr/>
        </p:nvSpPr>
        <p:spPr>
          <a:xfrm>
            <a:off x="868680" y="3493008"/>
            <a:ext cx="457200" cy="45720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4" name="Text 12"/>
          <p:cNvSpPr/>
          <p:nvPr/>
        </p:nvSpPr>
        <p:spPr>
          <a:xfrm>
            <a:off x="1554480" y="3364992"/>
            <a:ext cx="9784080" cy="713232"/>
          </a:xfrm>
          <a:prstGeom prst="rect">
            <a:avLst/>
          </a:prstGeom>
          <a:noFill/>
          <a:ln/>
        </p:spPr>
        <p:txBody>
          <a:bodyPr wrap="square" rtlCol="0" anchor="ctr"/>
          <a:lstStyle/>
          <a:p>
            <a:pPr marL="0" indent="0">
              <a:buNone/>
            </a:pP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False alerts may occur.</a:t>
            </a:r>
            <a:endParaRPr lang="en-US" sz="2000" dirty="0">
              <a:latin typeface="Times New Roman" panose="02020603050405020304" pitchFamily="18" charset="0"/>
              <a:cs typeface="Times New Roman" panose="02020603050405020304" pitchFamily="18" charset="0"/>
            </a:endParaRPr>
          </a:p>
        </p:txBody>
      </p:sp>
      <p:sp>
        <p:nvSpPr>
          <p:cNvPr id="15" name="Shape 13"/>
          <p:cNvSpPr/>
          <p:nvPr/>
        </p:nvSpPr>
        <p:spPr>
          <a:xfrm>
            <a:off x="640080" y="4224528"/>
            <a:ext cx="10881360" cy="713232"/>
          </a:xfrm>
          <a:prstGeom prst="roundRect">
            <a:avLst>
              <a:gd name="adj" fmla="val 10256"/>
            </a:avLst>
          </a:prstGeom>
          <a:solidFill>
            <a:srgbClr val="F1F7F7"/>
          </a:solidFill>
          <a:ln/>
        </p:spPr>
      </p:sp>
      <p:sp>
        <p:nvSpPr>
          <p:cNvPr id="16" name="Shape 14"/>
          <p:cNvSpPr/>
          <p:nvPr/>
        </p:nvSpPr>
        <p:spPr>
          <a:xfrm>
            <a:off x="868680" y="4352544"/>
            <a:ext cx="457200" cy="457200"/>
          </a:xfrm>
          <a:prstGeom prst="ellipse">
            <a:avLst/>
          </a:prstGeom>
          <a:solidFill>
            <a:srgbClr val="028090"/>
          </a:solidFill>
          <a:ln/>
        </p:spPr>
      </p:sp>
      <p:sp>
        <p:nvSpPr>
          <p:cNvPr id="17" name="Text 15"/>
          <p:cNvSpPr/>
          <p:nvPr/>
        </p:nvSpPr>
        <p:spPr>
          <a:xfrm>
            <a:off x="868680" y="4352544"/>
            <a:ext cx="457200" cy="45720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8" name="Text 16"/>
          <p:cNvSpPr/>
          <p:nvPr/>
        </p:nvSpPr>
        <p:spPr>
          <a:xfrm>
            <a:off x="1554480" y="4224528"/>
            <a:ext cx="9784080" cy="713232"/>
          </a:xfrm>
          <a:prstGeom prst="rect">
            <a:avLst/>
          </a:prstGeom>
          <a:noFill/>
          <a:ln/>
        </p:spPr>
        <p:txBody>
          <a:bodyPr wrap="square" rtlCol="0" anchor="ctr"/>
          <a:lstStyle/>
          <a:p>
            <a:pPr marL="0" indent="0">
              <a:buNone/>
            </a:pP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Security and development teams need good communication</a:t>
            </a:r>
            <a:r>
              <a:rPr lang="en-US" sz="1500" dirty="0">
                <a:solidFill>
                  <a:srgbClr val="1B2B2E"/>
                </a:solidFill>
                <a:latin typeface="Calibri" pitchFamily="34" charset="0"/>
                <a:ea typeface="Calibri" pitchFamily="34" charset="-122"/>
                <a:cs typeface="Calibri" pitchFamily="34" charset="-120"/>
              </a:rPr>
              <a:t>.</a:t>
            </a:r>
            <a:endParaRPr lang="en-US" sz="1500" dirty="0"/>
          </a:p>
        </p:txBody>
      </p:sp>
      <p:sp>
        <p:nvSpPr>
          <p:cNvPr id="19" name="Shape 17"/>
          <p:cNvSpPr/>
          <p:nvPr/>
        </p:nvSpPr>
        <p:spPr>
          <a:xfrm>
            <a:off x="640080" y="5084064"/>
            <a:ext cx="10881360" cy="713232"/>
          </a:xfrm>
          <a:prstGeom prst="roundRect">
            <a:avLst>
              <a:gd name="adj" fmla="val 10256"/>
            </a:avLst>
          </a:prstGeom>
          <a:solidFill>
            <a:srgbClr val="F1F7F7"/>
          </a:solidFill>
          <a:ln/>
        </p:spPr>
      </p:sp>
      <p:sp>
        <p:nvSpPr>
          <p:cNvPr id="20" name="Shape 18"/>
          <p:cNvSpPr/>
          <p:nvPr/>
        </p:nvSpPr>
        <p:spPr>
          <a:xfrm>
            <a:off x="868680" y="5212080"/>
            <a:ext cx="457200" cy="457200"/>
          </a:xfrm>
          <a:prstGeom prst="ellipse">
            <a:avLst/>
          </a:prstGeom>
          <a:solidFill>
            <a:srgbClr val="028090"/>
          </a:solidFill>
          <a:ln/>
        </p:spPr>
      </p:sp>
      <p:sp>
        <p:nvSpPr>
          <p:cNvPr id="21" name="Text 19"/>
          <p:cNvSpPr/>
          <p:nvPr/>
        </p:nvSpPr>
        <p:spPr>
          <a:xfrm>
            <a:off x="868680" y="5212080"/>
            <a:ext cx="457200" cy="45720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22" name="Text 20"/>
          <p:cNvSpPr/>
          <p:nvPr/>
        </p:nvSpPr>
        <p:spPr>
          <a:xfrm>
            <a:off x="1554480" y="5084064"/>
            <a:ext cx="9784080" cy="713232"/>
          </a:xfrm>
          <a:prstGeom prst="rect">
            <a:avLst/>
          </a:prstGeom>
          <a:noFill/>
          <a:ln/>
        </p:spPr>
        <p:txBody>
          <a:bodyPr wrap="square" rtlCol="0" anchor="ctr"/>
          <a:lstStyle/>
          <a:p>
            <a:pPr marL="0" indent="0">
              <a:buNone/>
            </a:pPr>
            <a:r>
              <a:rPr lang="en-US" sz="2000" dirty="0">
                <a:solidFill>
                  <a:srgbClr val="1B2B2E"/>
                </a:solidFill>
                <a:latin typeface="Times New Roman" panose="02020603050405020304" pitchFamily="18" charset="0"/>
                <a:ea typeface="Calibri" pitchFamily="34" charset="-122"/>
                <a:cs typeface="Times New Roman" panose="02020603050405020304" pitchFamily="18" charset="0"/>
              </a:rPr>
              <a:t>Organizations may face resistance to new processes.</a:t>
            </a:r>
            <a:endParaRPr lang="en-US" sz="2000" dirty="0">
              <a:latin typeface="Times New Roman" panose="02020603050405020304" pitchFamily="18" charset="0"/>
              <a:cs typeface="Times New Roman" panose="02020603050405020304" pitchFamily="18" charset="0"/>
            </a:endParaRPr>
          </a:p>
        </p:txBody>
      </p:sp>
      <p:sp>
        <p:nvSpPr>
          <p:cNvPr id="24" name="Text 21"/>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E7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027"/>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028090">
              <a:alpha val="30000"/>
            </a:srgbClr>
          </a:solidFill>
          <a:ln/>
        </p:spPr>
      </p:sp>
      <p:sp>
        <p:nvSpPr>
          <p:cNvPr id="3" name="Shape 1"/>
          <p:cNvSpPr/>
          <p:nvPr/>
        </p:nvSpPr>
        <p:spPr>
          <a:xfrm>
            <a:off x="9601200" y="4114800"/>
            <a:ext cx="4114800" cy="4114800"/>
          </a:xfrm>
          <a:prstGeom prst="ellipse">
            <a:avLst/>
          </a:prstGeom>
          <a:solidFill>
            <a:srgbClr val="00A896">
              <a:alpha val="35000"/>
            </a:srgbClr>
          </a:solidFill>
          <a:ln/>
        </p:spPr>
      </p:sp>
      <p:sp>
        <p:nvSpPr>
          <p:cNvPr id="4" name="Text 2"/>
          <p:cNvSpPr/>
          <p:nvPr/>
        </p:nvSpPr>
        <p:spPr>
          <a:xfrm>
            <a:off x="822960" y="640080"/>
            <a:ext cx="7315200" cy="82296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5" name="Shape 3"/>
          <p:cNvSpPr/>
          <p:nvPr/>
        </p:nvSpPr>
        <p:spPr>
          <a:xfrm>
            <a:off x="868680" y="2039112"/>
            <a:ext cx="146304" cy="146304"/>
          </a:xfrm>
          <a:prstGeom prst="ellipse">
            <a:avLst/>
          </a:prstGeom>
          <a:solidFill>
            <a:srgbClr val="02C39A"/>
          </a:solidFill>
          <a:ln/>
        </p:spPr>
      </p:sp>
      <p:sp>
        <p:nvSpPr>
          <p:cNvPr id="6" name="Text 4"/>
          <p:cNvSpPr/>
          <p:nvPr/>
        </p:nvSpPr>
        <p:spPr>
          <a:xfrm>
            <a:off x="1234440" y="1965960"/>
            <a:ext cx="9601200" cy="640080"/>
          </a:xfrm>
          <a:prstGeom prst="rect">
            <a:avLst/>
          </a:prstGeom>
          <a:noFill/>
          <a:ln/>
        </p:spPr>
        <p:txBody>
          <a:bodyPr wrap="square" rtlCol="0" anchor="t"/>
          <a:lstStyle/>
          <a:p>
            <a:pPr marL="0" indent="0">
              <a:lnSpc>
                <a:spcPct val="115000"/>
              </a:lnSpc>
              <a:buNone/>
            </a:pPr>
            <a:r>
              <a:rPr lang="en-US" sz="2000" dirty="0">
                <a:solidFill>
                  <a:srgbClr val="FFFFFF"/>
                </a:solidFill>
                <a:latin typeface="Times New Roman" panose="02020603050405020304" pitchFamily="18" charset="0"/>
                <a:ea typeface="Calibri" pitchFamily="34" charset="-122"/>
                <a:cs typeface="Times New Roman" panose="02020603050405020304" pitchFamily="18" charset="0"/>
              </a:rPr>
              <a:t>DevSecOps makes security a shared responsibility</a:t>
            </a:r>
            <a:r>
              <a:rPr lang="en-US" sz="1700" dirty="0">
                <a:solidFill>
                  <a:srgbClr val="FFFFFF"/>
                </a:solidFill>
                <a:latin typeface="Times New Roman" panose="02020603050405020304" pitchFamily="18" charset="0"/>
                <a:ea typeface="Calibri" pitchFamily="34" charset="-122"/>
                <a:cs typeface="Times New Roman" panose="02020603050405020304" pitchFamily="18" charset="0"/>
              </a:rPr>
              <a:t>.</a:t>
            </a:r>
            <a:endParaRPr lang="en-US" sz="1700" dirty="0">
              <a:latin typeface="Times New Roman" panose="02020603050405020304" pitchFamily="18" charset="0"/>
              <a:cs typeface="Times New Roman" panose="02020603050405020304" pitchFamily="18" charset="0"/>
            </a:endParaRPr>
          </a:p>
        </p:txBody>
      </p:sp>
      <p:sp>
        <p:nvSpPr>
          <p:cNvPr id="7" name="Shape 5"/>
          <p:cNvSpPr/>
          <p:nvPr/>
        </p:nvSpPr>
        <p:spPr>
          <a:xfrm>
            <a:off x="868680" y="2907792"/>
            <a:ext cx="146304" cy="146304"/>
          </a:xfrm>
          <a:prstGeom prst="ellipse">
            <a:avLst/>
          </a:prstGeom>
          <a:solidFill>
            <a:srgbClr val="02C39A"/>
          </a:solidFill>
          <a:ln/>
        </p:spPr>
      </p:sp>
      <p:sp>
        <p:nvSpPr>
          <p:cNvPr id="8" name="Text 6"/>
          <p:cNvSpPr/>
          <p:nvPr/>
        </p:nvSpPr>
        <p:spPr>
          <a:xfrm>
            <a:off x="1234440" y="2834640"/>
            <a:ext cx="9601200" cy="640080"/>
          </a:xfrm>
          <a:prstGeom prst="rect">
            <a:avLst/>
          </a:prstGeom>
          <a:noFill/>
          <a:ln/>
        </p:spPr>
        <p:txBody>
          <a:bodyPr wrap="square" rtlCol="0" anchor="t"/>
          <a:lstStyle/>
          <a:p>
            <a:pPr marL="0" indent="0">
              <a:lnSpc>
                <a:spcPct val="115000"/>
              </a:lnSpc>
              <a:buNone/>
            </a:pPr>
            <a:r>
              <a:rPr lang="en-US" sz="2000" dirty="0">
                <a:solidFill>
                  <a:srgbClr val="FFFFFF"/>
                </a:solidFill>
                <a:latin typeface="Times New Roman" panose="02020603050405020304" pitchFamily="18" charset="0"/>
                <a:ea typeface="Calibri" pitchFamily="34" charset="-122"/>
                <a:cs typeface="Times New Roman" panose="02020603050405020304" pitchFamily="18" charset="0"/>
              </a:rPr>
              <a:t>Secure by Default means security is built into software from the beginning</a:t>
            </a:r>
            <a:r>
              <a:rPr lang="en-US" sz="1700" dirty="0">
                <a:solidFill>
                  <a:srgbClr val="FFFFFF"/>
                </a:solidFill>
                <a:latin typeface="Calibri" pitchFamily="34" charset="0"/>
                <a:ea typeface="Calibri" pitchFamily="34" charset="-122"/>
                <a:cs typeface="Calibri" pitchFamily="34" charset="-120"/>
              </a:rPr>
              <a:t>.</a:t>
            </a:r>
            <a:endParaRPr lang="en-US" sz="1700" dirty="0"/>
          </a:p>
        </p:txBody>
      </p:sp>
      <p:sp>
        <p:nvSpPr>
          <p:cNvPr id="9" name="Shape 7"/>
          <p:cNvSpPr/>
          <p:nvPr/>
        </p:nvSpPr>
        <p:spPr>
          <a:xfrm>
            <a:off x="868680" y="3776472"/>
            <a:ext cx="146304" cy="146304"/>
          </a:xfrm>
          <a:prstGeom prst="ellipse">
            <a:avLst/>
          </a:prstGeom>
          <a:solidFill>
            <a:srgbClr val="02C39A"/>
          </a:solidFill>
          <a:ln/>
        </p:spPr>
      </p:sp>
      <p:sp>
        <p:nvSpPr>
          <p:cNvPr id="10" name="Text 8"/>
          <p:cNvSpPr/>
          <p:nvPr/>
        </p:nvSpPr>
        <p:spPr>
          <a:xfrm>
            <a:off x="1234440" y="3703320"/>
            <a:ext cx="9601200" cy="640080"/>
          </a:xfrm>
          <a:prstGeom prst="rect">
            <a:avLst/>
          </a:prstGeom>
          <a:noFill/>
          <a:ln/>
        </p:spPr>
        <p:txBody>
          <a:bodyPr wrap="square" rtlCol="0" anchor="t"/>
          <a:lstStyle/>
          <a:p>
            <a:pPr marL="0" indent="0">
              <a:lnSpc>
                <a:spcPct val="115000"/>
              </a:lnSpc>
              <a:buNone/>
            </a:pPr>
            <a:r>
              <a:rPr lang="en-US" sz="2000" dirty="0">
                <a:solidFill>
                  <a:srgbClr val="FFFFFF"/>
                </a:solidFill>
                <a:latin typeface="Times New Roman" panose="02020603050405020304" pitchFamily="18" charset="0"/>
                <a:ea typeface="Calibri" pitchFamily="34" charset="-122"/>
                <a:cs typeface="Times New Roman" panose="02020603050405020304" pitchFamily="18" charset="0"/>
              </a:rPr>
              <a:t>Automation and continuous monitoring improve security.</a:t>
            </a:r>
            <a:endParaRPr lang="en-US" sz="2000" dirty="0">
              <a:latin typeface="Times New Roman" panose="02020603050405020304" pitchFamily="18" charset="0"/>
              <a:cs typeface="Times New Roman" panose="02020603050405020304" pitchFamily="18" charset="0"/>
            </a:endParaRPr>
          </a:p>
        </p:txBody>
      </p:sp>
      <p:sp>
        <p:nvSpPr>
          <p:cNvPr id="11" name="Shape 9"/>
          <p:cNvSpPr/>
          <p:nvPr/>
        </p:nvSpPr>
        <p:spPr>
          <a:xfrm>
            <a:off x="868680" y="4645152"/>
            <a:ext cx="146304" cy="146304"/>
          </a:xfrm>
          <a:prstGeom prst="ellipse">
            <a:avLst/>
          </a:prstGeom>
          <a:solidFill>
            <a:srgbClr val="02C39A"/>
          </a:solidFill>
          <a:ln/>
        </p:spPr>
      </p:sp>
      <p:sp>
        <p:nvSpPr>
          <p:cNvPr id="12" name="Text 10"/>
          <p:cNvSpPr/>
          <p:nvPr/>
        </p:nvSpPr>
        <p:spPr>
          <a:xfrm>
            <a:off x="1234440" y="4572000"/>
            <a:ext cx="9601200" cy="640080"/>
          </a:xfrm>
          <a:prstGeom prst="rect">
            <a:avLst/>
          </a:prstGeom>
          <a:noFill/>
          <a:ln/>
        </p:spPr>
        <p:txBody>
          <a:bodyPr wrap="square" rtlCol="0" anchor="t"/>
          <a:lstStyle/>
          <a:p>
            <a:pPr marL="0" indent="0">
              <a:lnSpc>
                <a:spcPct val="115000"/>
              </a:lnSpc>
              <a:buNone/>
            </a:pPr>
            <a:r>
              <a:rPr lang="en-US" sz="2000" dirty="0">
                <a:solidFill>
                  <a:srgbClr val="FFFFFF"/>
                </a:solidFill>
                <a:latin typeface="Times New Roman" panose="02020603050405020304" pitchFamily="18" charset="0"/>
                <a:ea typeface="Calibri" pitchFamily="34" charset="-122"/>
                <a:cs typeface="Times New Roman" panose="02020603050405020304" pitchFamily="18" charset="0"/>
              </a:rPr>
              <a:t>DevSecOps helps deliver faster, safer, and more reliable applications</a:t>
            </a:r>
            <a:r>
              <a:rPr lang="en-US" sz="1700" dirty="0">
                <a:solidFill>
                  <a:srgbClr val="FFFFFF"/>
                </a:solidFill>
                <a:latin typeface="Calibri" pitchFamily="34" charset="0"/>
                <a:ea typeface="Calibri" pitchFamily="34" charset="-122"/>
                <a:cs typeface="Calibri" pitchFamily="34" charset="-120"/>
              </a:rPr>
              <a:t>.</a:t>
            </a:r>
            <a:endParaRPr lang="en-US" sz="1700" dirty="0"/>
          </a:p>
        </p:txBody>
      </p:sp>
      <p:sp>
        <p:nvSpPr>
          <p:cNvPr id="13" name="Text 11"/>
          <p:cNvSpPr/>
          <p:nvPr/>
        </p:nvSpPr>
        <p:spPr>
          <a:xfrm>
            <a:off x="822960" y="5760720"/>
            <a:ext cx="5486400" cy="548640"/>
          </a:xfrm>
          <a:prstGeom prst="rect">
            <a:avLst/>
          </a:prstGeom>
          <a:noFill/>
          <a:ln/>
        </p:spPr>
        <p:txBody>
          <a:bodyPr wrap="square" rtlCol="0" anchor="ctr"/>
          <a:lstStyle/>
          <a:p>
            <a:pPr marL="0" indent="0">
              <a:buNone/>
            </a:pPr>
            <a:endParaRPr lang="en-US" sz="2000" dirty="0"/>
          </a:p>
        </p:txBody>
      </p:sp>
      <p:sp>
        <p:nvSpPr>
          <p:cNvPr id="15" name="Text 12"/>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E7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860106-ACED-53BE-52FD-C99E18D4E0C9}"/>
              </a:ext>
            </a:extLst>
          </p:cNvPr>
          <p:cNvSpPr txBox="1"/>
          <p:nvPr/>
        </p:nvSpPr>
        <p:spPr>
          <a:xfrm>
            <a:off x="3726180" y="2377440"/>
            <a:ext cx="7193280" cy="1877437"/>
          </a:xfrm>
          <a:prstGeom prst="rect">
            <a:avLst/>
          </a:prstGeom>
          <a:noFill/>
        </p:spPr>
        <p:txBody>
          <a:bodyPr wrap="square">
            <a:spAutoFit/>
          </a:bodyPr>
          <a:lstStyle/>
          <a:p>
            <a:pPr marL="0" indent="0">
              <a:buNone/>
            </a:pPr>
            <a:endParaRPr lang="en-US" sz="2000" b="1" dirty="0">
              <a:solidFill>
                <a:srgbClr val="02C39A"/>
              </a:solidFill>
              <a:latin typeface="Cambria" pitchFamily="34" charset="0"/>
              <a:ea typeface="Cambria" pitchFamily="34" charset="-122"/>
              <a:cs typeface="Cambria" pitchFamily="34" charset="-120"/>
            </a:endParaRPr>
          </a:p>
          <a:p>
            <a:pPr marL="0" indent="0">
              <a:buNone/>
            </a:pPr>
            <a:endParaRPr lang="en-US" sz="2000" b="1" dirty="0">
              <a:solidFill>
                <a:srgbClr val="02C39A"/>
              </a:solidFill>
              <a:latin typeface="Cambria" pitchFamily="34" charset="0"/>
              <a:ea typeface="Cambria" pitchFamily="34" charset="-122"/>
              <a:cs typeface="Cambria" pitchFamily="34" charset="-120"/>
            </a:endParaRPr>
          </a:p>
          <a:p>
            <a:pPr marL="0" indent="0">
              <a:buNone/>
            </a:pPr>
            <a:endParaRPr lang="en-US" sz="2000" b="1" dirty="0">
              <a:solidFill>
                <a:srgbClr val="02C39A"/>
              </a:solidFill>
              <a:latin typeface="Cambria" pitchFamily="34" charset="0"/>
              <a:ea typeface="Cambria" pitchFamily="34" charset="-122"/>
              <a:cs typeface="Cambria" pitchFamily="34" charset="-120"/>
            </a:endParaRPr>
          </a:p>
          <a:p>
            <a:pPr marL="0" indent="0">
              <a:buNone/>
            </a:pPr>
            <a:endParaRPr lang="en-US" sz="2000" b="1" dirty="0">
              <a:solidFill>
                <a:srgbClr val="02C39A"/>
              </a:solidFill>
              <a:latin typeface="Cambria" pitchFamily="34" charset="0"/>
              <a:ea typeface="Cambria" pitchFamily="34" charset="-122"/>
              <a:cs typeface="Cambria" pitchFamily="34" charset="-120"/>
            </a:endParaRPr>
          </a:p>
          <a:p>
            <a:pPr marL="0" indent="0">
              <a:buNone/>
            </a:pPr>
            <a:r>
              <a:rPr lang="en-US" sz="3600" b="1" dirty="0">
                <a:solidFill>
                  <a:srgbClr val="02C39A"/>
                </a:solidFill>
                <a:latin typeface="Times New Roman" panose="02020603050405020304" pitchFamily="18" charset="0"/>
                <a:ea typeface="Cambria" pitchFamily="34" charset="-122"/>
                <a:cs typeface="Times New Roman" panose="02020603050405020304" pitchFamily="18" charset="0"/>
              </a:rPr>
              <a:t>Thank You</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80255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TotalTime>
  <Words>2167</Words>
  <Application>Microsoft Office PowerPoint</Application>
  <PresentationFormat>Widescreen</PresentationFormat>
  <Paragraphs>151</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gokul gokul</cp:lastModifiedBy>
  <cp:revision>2</cp:revision>
  <dcterms:created xsi:type="dcterms:W3CDTF">2026-08-22T03:05:24Z</dcterms:created>
  <dcterms:modified xsi:type="dcterms:W3CDTF">2026-08-22T04:54:29Z</dcterms:modified>
</cp:coreProperties>
</file>